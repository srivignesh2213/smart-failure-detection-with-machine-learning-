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927850" cx="12192000"/>
  <p:notesSz cx="12192000" cy="6927850"/>
  <p:embeddedFontLst>
    <p:embeddedFont>
      <p:font typeface="Tahoma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B1172B-2C03-4673-9C3A-715972099FBB}">
  <a:tblStyle styleId="{85B1172B-2C03-4673-9C3A-715972099FB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Tahoma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font" Target="fonts/Tahoma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9575"/>
            <a:ext cx="8128400" cy="259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90725"/>
            <a:ext cx="9753600" cy="31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1219200" y="3290725"/>
            <a:ext cx="9753600" cy="31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2032400" y="519575"/>
            <a:ext cx="8128500" cy="259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1219200" y="3290725"/>
            <a:ext cx="9753600" cy="31175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/>
          <p:nvPr>
            <p:ph idx="2" type="sldImg"/>
          </p:nvPr>
        </p:nvSpPr>
        <p:spPr>
          <a:xfrm>
            <a:off x="2032400" y="519575"/>
            <a:ext cx="8128400" cy="259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1219200" y="3290725"/>
            <a:ext cx="9753600" cy="31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2032400" y="519575"/>
            <a:ext cx="8128500" cy="259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1219200" y="3290725"/>
            <a:ext cx="9753600" cy="31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2032400" y="519575"/>
            <a:ext cx="8128500" cy="259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1219200" y="3290725"/>
            <a:ext cx="9753600" cy="31175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2032400" y="519575"/>
            <a:ext cx="8128400" cy="259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1219200" y="3290725"/>
            <a:ext cx="9753600" cy="31175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2032400" y="519575"/>
            <a:ext cx="8128400" cy="259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568325" y="558799"/>
            <a:ext cx="932624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E294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585787" y="2347912"/>
            <a:ext cx="4924425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10725696" y="6455099"/>
            <a:ext cx="1145540" cy="264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4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762" y="4762"/>
            <a:ext cx="12182475" cy="6848475"/>
          </a:xfrm>
          <a:custGeom>
            <a:rect b="b" l="l" r="r" t="t"/>
            <a:pathLst>
              <a:path extrusionOk="0" h="6848475" w="12182475">
                <a:moveTo>
                  <a:pt x="0" y="6848475"/>
                </a:moveTo>
                <a:lnTo>
                  <a:pt x="12182475" y="6848475"/>
                </a:lnTo>
                <a:lnTo>
                  <a:pt x="12182475" y="0"/>
                </a:lnTo>
                <a:lnTo>
                  <a:pt x="0" y="0"/>
                </a:lnTo>
                <a:lnTo>
                  <a:pt x="0" y="6848475"/>
                </a:lnTo>
                <a:close/>
              </a:path>
            </a:pathLst>
          </a:custGeom>
          <a:noFill/>
          <a:ln cap="flat" cmpd="sng" w="9525">
            <a:solidFill>
              <a:srgbClr val="0E29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525" y="1466849"/>
            <a:ext cx="12172950" cy="9525"/>
          </a:xfrm>
          <a:custGeom>
            <a:rect b="b" l="l" r="r" t="t"/>
            <a:pathLst>
              <a:path extrusionOk="0" h="9525" w="12172950">
                <a:moveTo>
                  <a:pt x="12172950" y="0"/>
                </a:moveTo>
                <a:lnTo>
                  <a:pt x="0" y="0"/>
                </a:lnTo>
                <a:lnTo>
                  <a:pt x="0" y="9525"/>
                </a:lnTo>
                <a:lnTo>
                  <a:pt x="12172950" y="9525"/>
                </a:lnTo>
                <a:lnTo>
                  <a:pt x="12172950" y="0"/>
                </a:lnTo>
                <a:close/>
              </a:path>
            </a:pathLst>
          </a:custGeom>
          <a:solidFill>
            <a:srgbClr val="0E294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 txBox="1"/>
          <p:nvPr>
            <p:ph type="title"/>
          </p:nvPr>
        </p:nvSpPr>
        <p:spPr>
          <a:xfrm>
            <a:off x="568325" y="558799"/>
            <a:ext cx="932624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E294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10725696" y="6455099"/>
            <a:ext cx="1145540" cy="264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E294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10725696" y="6455099"/>
            <a:ext cx="1145540" cy="264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title"/>
          </p:nvPr>
        </p:nvSpPr>
        <p:spPr>
          <a:xfrm>
            <a:off x="568325" y="558799"/>
            <a:ext cx="932624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E294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10725696" y="6455099"/>
            <a:ext cx="1145540" cy="264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1" type="ftr"/>
          </p:nvPr>
        </p:nvSpPr>
        <p:spPr>
          <a:xfrm>
            <a:off x="10725696" y="6455099"/>
            <a:ext cx="1145540" cy="264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1"/>
            <a:ext cx="12192000" cy="6915150"/>
          </a:xfrm>
          <a:custGeom>
            <a:rect b="b" l="l" r="r" t="t"/>
            <a:pathLst>
              <a:path extrusionOk="0" h="6915150" w="12192000">
                <a:moveTo>
                  <a:pt x="12192000" y="0"/>
                </a:moveTo>
                <a:lnTo>
                  <a:pt x="0" y="0"/>
                </a:lnTo>
                <a:lnTo>
                  <a:pt x="0" y="6915150"/>
                </a:lnTo>
                <a:lnTo>
                  <a:pt x="12192000" y="691515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4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4762" y="4764"/>
            <a:ext cx="12182475" cy="6905625"/>
          </a:xfrm>
          <a:custGeom>
            <a:rect b="b" l="l" r="r" t="t"/>
            <a:pathLst>
              <a:path extrusionOk="0" h="6905625" w="12182475">
                <a:moveTo>
                  <a:pt x="0" y="6905625"/>
                </a:moveTo>
                <a:lnTo>
                  <a:pt x="12182475" y="6905625"/>
                </a:lnTo>
                <a:lnTo>
                  <a:pt x="12182475" y="0"/>
                </a:lnTo>
                <a:lnTo>
                  <a:pt x="0" y="0"/>
                </a:lnTo>
                <a:lnTo>
                  <a:pt x="0" y="6905625"/>
                </a:lnTo>
                <a:close/>
              </a:path>
            </a:pathLst>
          </a:custGeom>
          <a:noFill/>
          <a:ln cap="flat" cmpd="sng" w="9525">
            <a:solidFill>
              <a:srgbClr val="0E29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9525" y="1466849"/>
            <a:ext cx="12172950" cy="9525"/>
          </a:xfrm>
          <a:custGeom>
            <a:rect b="b" l="l" r="r" t="t"/>
            <a:pathLst>
              <a:path extrusionOk="0" h="9525" w="12172950">
                <a:moveTo>
                  <a:pt x="12172950" y="0"/>
                </a:moveTo>
                <a:lnTo>
                  <a:pt x="0" y="0"/>
                </a:lnTo>
                <a:lnTo>
                  <a:pt x="0" y="9525"/>
                </a:lnTo>
                <a:lnTo>
                  <a:pt x="12172950" y="9525"/>
                </a:lnTo>
                <a:lnTo>
                  <a:pt x="12172950" y="0"/>
                </a:lnTo>
                <a:close/>
              </a:path>
            </a:pathLst>
          </a:custGeom>
          <a:solidFill>
            <a:srgbClr val="0E294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568325" y="558799"/>
            <a:ext cx="932624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E294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585787" y="2347912"/>
            <a:ext cx="4924425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10725696" y="6455099"/>
            <a:ext cx="1145540" cy="264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4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" name="Google Shape;50;p7"/>
          <p:cNvGrpSpPr/>
          <p:nvPr/>
        </p:nvGrpSpPr>
        <p:grpSpPr>
          <a:xfrm>
            <a:off x="95250" y="95249"/>
            <a:ext cx="12001500" cy="6667500"/>
            <a:chOff x="95250" y="95249"/>
            <a:chExt cx="12001500" cy="6667500"/>
          </a:xfrm>
        </p:grpSpPr>
        <p:sp>
          <p:nvSpPr>
            <p:cNvPr id="51" name="Google Shape;51;p7"/>
            <p:cNvSpPr/>
            <p:nvPr/>
          </p:nvSpPr>
          <p:spPr>
            <a:xfrm>
              <a:off x="95250" y="95249"/>
              <a:ext cx="12001500" cy="6667500"/>
            </a:xfrm>
            <a:custGeom>
              <a:rect b="b" l="l" r="r" t="t"/>
              <a:pathLst>
                <a:path extrusionOk="0" h="6667500" w="12001500">
                  <a:moveTo>
                    <a:pt x="0" y="6667500"/>
                  </a:moveTo>
                  <a:lnTo>
                    <a:pt x="12001500" y="6667500"/>
                  </a:lnTo>
                  <a:lnTo>
                    <a:pt x="12001500" y="0"/>
                  </a:lnTo>
                  <a:lnTo>
                    <a:pt x="0" y="0"/>
                  </a:lnTo>
                  <a:lnTo>
                    <a:pt x="0" y="6667500"/>
                  </a:lnTo>
                  <a:close/>
                </a:path>
              </a:pathLst>
            </a:custGeom>
            <a:noFill/>
            <a:ln cap="flat" cmpd="sng" w="190500">
              <a:solidFill>
                <a:srgbClr val="0E294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1162050" y="190499"/>
              <a:ext cx="10839450" cy="6477000"/>
            </a:xfrm>
            <a:custGeom>
              <a:rect b="b" l="l" r="r" t="t"/>
              <a:pathLst>
                <a:path extrusionOk="0" h="6477000" w="10839450">
                  <a:moveTo>
                    <a:pt x="9525" y="0"/>
                  </a:moveTo>
                  <a:lnTo>
                    <a:pt x="0" y="0"/>
                  </a:lnTo>
                  <a:lnTo>
                    <a:pt x="0" y="6477000"/>
                  </a:lnTo>
                  <a:lnTo>
                    <a:pt x="9525" y="6477000"/>
                  </a:lnTo>
                  <a:lnTo>
                    <a:pt x="9525" y="0"/>
                  </a:lnTo>
                  <a:close/>
                </a:path>
                <a:path extrusionOk="0" h="6477000" w="10839450">
                  <a:moveTo>
                    <a:pt x="1000125" y="0"/>
                  </a:moveTo>
                  <a:lnTo>
                    <a:pt x="990600" y="0"/>
                  </a:lnTo>
                  <a:lnTo>
                    <a:pt x="990600" y="6477000"/>
                  </a:lnTo>
                  <a:lnTo>
                    <a:pt x="1000125" y="6477000"/>
                  </a:lnTo>
                  <a:lnTo>
                    <a:pt x="1000125" y="0"/>
                  </a:lnTo>
                  <a:close/>
                </a:path>
                <a:path extrusionOk="0" h="6477000" w="10839450">
                  <a:moveTo>
                    <a:pt x="1981200" y="0"/>
                  </a:moveTo>
                  <a:lnTo>
                    <a:pt x="1971675" y="0"/>
                  </a:lnTo>
                  <a:lnTo>
                    <a:pt x="1971675" y="6477000"/>
                  </a:lnTo>
                  <a:lnTo>
                    <a:pt x="1981200" y="6477000"/>
                  </a:lnTo>
                  <a:lnTo>
                    <a:pt x="1981200" y="0"/>
                  </a:lnTo>
                  <a:close/>
                </a:path>
                <a:path extrusionOk="0" h="6477000" w="10839450">
                  <a:moveTo>
                    <a:pt x="2962275" y="0"/>
                  </a:moveTo>
                  <a:lnTo>
                    <a:pt x="2952750" y="0"/>
                  </a:lnTo>
                  <a:lnTo>
                    <a:pt x="2952750" y="6477000"/>
                  </a:lnTo>
                  <a:lnTo>
                    <a:pt x="2962275" y="6477000"/>
                  </a:lnTo>
                  <a:lnTo>
                    <a:pt x="2962275" y="0"/>
                  </a:lnTo>
                  <a:close/>
                </a:path>
                <a:path extrusionOk="0" h="6477000" w="10839450">
                  <a:moveTo>
                    <a:pt x="3952875" y="0"/>
                  </a:moveTo>
                  <a:lnTo>
                    <a:pt x="3943350" y="0"/>
                  </a:lnTo>
                  <a:lnTo>
                    <a:pt x="3943350" y="6477000"/>
                  </a:lnTo>
                  <a:lnTo>
                    <a:pt x="3952875" y="6477000"/>
                  </a:lnTo>
                  <a:lnTo>
                    <a:pt x="3952875" y="0"/>
                  </a:lnTo>
                  <a:close/>
                </a:path>
                <a:path extrusionOk="0" h="6477000" w="10839450">
                  <a:moveTo>
                    <a:pt x="4933950" y="0"/>
                  </a:moveTo>
                  <a:lnTo>
                    <a:pt x="4924425" y="0"/>
                  </a:lnTo>
                  <a:lnTo>
                    <a:pt x="4924425" y="6477000"/>
                  </a:lnTo>
                  <a:lnTo>
                    <a:pt x="4933950" y="6477000"/>
                  </a:lnTo>
                  <a:lnTo>
                    <a:pt x="4933950" y="0"/>
                  </a:lnTo>
                  <a:close/>
                </a:path>
                <a:path extrusionOk="0" h="6477000" w="10839450">
                  <a:moveTo>
                    <a:pt x="5915025" y="0"/>
                  </a:moveTo>
                  <a:lnTo>
                    <a:pt x="5905500" y="0"/>
                  </a:lnTo>
                  <a:lnTo>
                    <a:pt x="5905500" y="6477000"/>
                  </a:lnTo>
                  <a:lnTo>
                    <a:pt x="5915025" y="6477000"/>
                  </a:lnTo>
                  <a:lnTo>
                    <a:pt x="5915025" y="0"/>
                  </a:lnTo>
                  <a:close/>
                </a:path>
                <a:path extrusionOk="0" h="6477000" w="10839450">
                  <a:moveTo>
                    <a:pt x="6905625" y="0"/>
                  </a:moveTo>
                  <a:lnTo>
                    <a:pt x="6896100" y="0"/>
                  </a:lnTo>
                  <a:lnTo>
                    <a:pt x="6896100" y="6477000"/>
                  </a:lnTo>
                  <a:lnTo>
                    <a:pt x="6905625" y="6477000"/>
                  </a:lnTo>
                  <a:lnTo>
                    <a:pt x="6905625" y="0"/>
                  </a:lnTo>
                  <a:close/>
                </a:path>
                <a:path extrusionOk="0" h="6477000" w="10839450">
                  <a:moveTo>
                    <a:pt x="7886700" y="0"/>
                  </a:moveTo>
                  <a:lnTo>
                    <a:pt x="7877175" y="0"/>
                  </a:lnTo>
                  <a:lnTo>
                    <a:pt x="7877175" y="6477000"/>
                  </a:lnTo>
                  <a:lnTo>
                    <a:pt x="7886700" y="6477000"/>
                  </a:lnTo>
                  <a:lnTo>
                    <a:pt x="7886700" y="0"/>
                  </a:lnTo>
                  <a:close/>
                </a:path>
                <a:path extrusionOk="0" h="6477000" w="10839450">
                  <a:moveTo>
                    <a:pt x="8867775" y="0"/>
                  </a:moveTo>
                  <a:lnTo>
                    <a:pt x="8858250" y="0"/>
                  </a:lnTo>
                  <a:lnTo>
                    <a:pt x="8858250" y="6477000"/>
                  </a:lnTo>
                  <a:lnTo>
                    <a:pt x="8867775" y="6477000"/>
                  </a:lnTo>
                  <a:lnTo>
                    <a:pt x="8867775" y="0"/>
                  </a:lnTo>
                  <a:close/>
                </a:path>
                <a:path extrusionOk="0" h="6477000" w="10839450">
                  <a:moveTo>
                    <a:pt x="9858375" y="0"/>
                  </a:moveTo>
                  <a:lnTo>
                    <a:pt x="9848850" y="0"/>
                  </a:lnTo>
                  <a:lnTo>
                    <a:pt x="9848850" y="6477000"/>
                  </a:lnTo>
                  <a:lnTo>
                    <a:pt x="9858375" y="6477000"/>
                  </a:lnTo>
                  <a:lnTo>
                    <a:pt x="9858375" y="0"/>
                  </a:lnTo>
                  <a:close/>
                </a:path>
                <a:path extrusionOk="0" h="6477000" w="10839450">
                  <a:moveTo>
                    <a:pt x="10839450" y="0"/>
                  </a:moveTo>
                  <a:lnTo>
                    <a:pt x="10829925" y="0"/>
                  </a:lnTo>
                  <a:lnTo>
                    <a:pt x="10829925" y="6477000"/>
                  </a:lnTo>
                  <a:lnTo>
                    <a:pt x="10839450" y="6477000"/>
                  </a:lnTo>
                  <a:lnTo>
                    <a:pt x="10839450" y="0"/>
                  </a:lnTo>
                  <a:close/>
                </a:path>
              </a:pathLst>
            </a:custGeom>
            <a:solidFill>
              <a:srgbClr val="0E2941">
                <a:alpha val="1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7"/>
            <p:cNvSpPr/>
            <p:nvPr/>
          </p:nvSpPr>
          <p:spPr>
            <a:xfrm>
              <a:off x="285750" y="285749"/>
              <a:ext cx="11620500" cy="6286500"/>
            </a:xfrm>
            <a:custGeom>
              <a:rect b="b" l="l" r="r" t="t"/>
              <a:pathLst>
                <a:path extrusionOk="0" h="6286500" w="11620500">
                  <a:moveTo>
                    <a:pt x="190500" y="6191250"/>
                  </a:moveTo>
                  <a:lnTo>
                    <a:pt x="104775" y="6191250"/>
                  </a:lnTo>
                  <a:lnTo>
                    <a:pt x="104775" y="6096000"/>
                  </a:lnTo>
                  <a:lnTo>
                    <a:pt x="95250" y="6096000"/>
                  </a:lnTo>
                  <a:lnTo>
                    <a:pt x="95250" y="6191250"/>
                  </a:lnTo>
                  <a:lnTo>
                    <a:pt x="0" y="6191250"/>
                  </a:lnTo>
                  <a:lnTo>
                    <a:pt x="0" y="6200775"/>
                  </a:lnTo>
                  <a:lnTo>
                    <a:pt x="95250" y="6200775"/>
                  </a:lnTo>
                  <a:lnTo>
                    <a:pt x="95250" y="6286500"/>
                  </a:lnTo>
                  <a:lnTo>
                    <a:pt x="104775" y="6286500"/>
                  </a:lnTo>
                  <a:lnTo>
                    <a:pt x="104775" y="6200775"/>
                  </a:lnTo>
                  <a:lnTo>
                    <a:pt x="190500" y="6200775"/>
                  </a:lnTo>
                  <a:lnTo>
                    <a:pt x="190500" y="6191250"/>
                  </a:lnTo>
                  <a:close/>
                </a:path>
                <a:path extrusionOk="0" h="6286500" w="11620500">
                  <a:moveTo>
                    <a:pt x="190500" y="95250"/>
                  </a:moveTo>
                  <a:lnTo>
                    <a:pt x="104775" y="95250"/>
                  </a:lnTo>
                  <a:lnTo>
                    <a:pt x="104775" y="0"/>
                  </a:lnTo>
                  <a:lnTo>
                    <a:pt x="95250" y="0"/>
                  </a:lnTo>
                  <a:lnTo>
                    <a:pt x="95250" y="95250"/>
                  </a:lnTo>
                  <a:lnTo>
                    <a:pt x="0" y="95250"/>
                  </a:lnTo>
                  <a:lnTo>
                    <a:pt x="0" y="104775"/>
                  </a:lnTo>
                  <a:lnTo>
                    <a:pt x="95250" y="104775"/>
                  </a:lnTo>
                  <a:lnTo>
                    <a:pt x="95250" y="190500"/>
                  </a:lnTo>
                  <a:lnTo>
                    <a:pt x="104775" y="190500"/>
                  </a:lnTo>
                  <a:lnTo>
                    <a:pt x="104775" y="104775"/>
                  </a:lnTo>
                  <a:lnTo>
                    <a:pt x="190500" y="104775"/>
                  </a:lnTo>
                  <a:lnTo>
                    <a:pt x="190500" y="95250"/>
                  </a:lnTo>
                  <a:close/>
                </a:path>
                <a:path extrusionOk="0" h="6286500" w="11620500">
                  <a:moveTo>
                    <a:pt x="11334750" y="5772150"/>
                  </a:moveTo>
                  <a:lnTo>
                    <a:pt x="11296650" y="5772150"/>
                  </a:lnTo>
                  <a:lnTo>
                    <a:pt x="11296650" y="6000750"/>
                  </a:lnTo>
                  <a:lnTo>
                    <a:pt x="11334750" y="6000750"/>
                  </a:lnTo>
                  <a:lnTo>
                    <a:pt x="11334750" y="5772150"/>
                  </a:lnTo>
                  <a:close/>
                </a:path>
                <a:path extrusionOk="0" h="6286500" w="11620500">
                  <a:moveTo>
                    <a:pt x="11620500" y="6191250"/>
                  </a:moveTo>
                  <a:lnTo>
                    <a:pt x="11534775" y="6191250"/>
                  </a:lnTo>
                  <a:lnTo>
                    <a:pt x="11534775" y="6096000"/>
                  </a:lnTo>
                  <a:lnTo>
                    <a:pt x="11525250" y="6096000"/>
                  </a:lnTo>
                  <a:lnTo>
                    <a:pt x="11525250" y="6191250"/>
                  </a:lnTo>
                  <a:lnTo>
                    <a:pt x="11430000" y="6191250"/>
                  </a:lnTo>
                  <a:lnTo>
                    <a:pt x="11430000" y="6200775"/>
                  </a:lnTo>
                  <a:lnTo>
                    <a:pt x="11525250" y="6200775"/>
                  </a:lnTo>
                  <a:lnTo>
                    <a:pt x="11525250" y="6286500"/>
                  </a:lnTo>
                  <a:lnTo>
                    <a:pt x="11534775" y="6286500"/>
                  </a:lnTo>
                  <a:lnTo>
                    <a:pt x="11534775" y="6200775"/>
                  </a:lnTo>
                  <a:lnTo>
                    <a:pt x="11620500" y="6200775"/>
                  </a:lnTo>
                  <a:lnTo>
                    <a:pt x="11620500" y="6191250"/>
                  </a:lnTo>
                  <a:close/>
                </a:path>
                <a:path extrusionOk="0" h="6286500" w="11620500">
                  <a:moveTo>
                    <a:pt x="11620500" y="95250"/>
                  </a:moveTo>
                  <a:lnTo>
                    <a:pt x="11534775" y="95250"/>
                  </a:lnTo>
                  <a:lnTo>
                    <a:pt x="11534775" y="0"/>
                  </a:lnTo>
                  <a:lnTo>
                    <a:pt x="11525250" y="0"/>
                  </a:lnTo>
                  <a:lnTo>
                    <a:pt x="11525250" y="95250"/>
                  </a:lnTo>
                  <a:lnTo>
                    <a:pt x="11430000" y="95250"/>
                  </a:lnTo>
                  <a:lnTo>
                    <a:pt x="11430000" y="104775"/>
                  </a:lnTo>
                  <a:lnTo>
                    <a:pt x="11525250" y="104775"/>
                  </a:lnTo>
                  <a:lnTo>
                    <a:pt x="11525250" y="190500"/>
                  </a:lnTo>
                  <a:lnTo>
                    <a:pt x="11534775" y="190500"/>
                  </a:lnTo>
                  <a:lnTo>
                    <a:pt x="11534775" y="104775"/>
                  </a:lnTo>
                  <a:lnTo>
                    <a:pt x="11620500" y="104775"/>
                  </a:lnTo>
                  <a:lnTo>
                    <a:pt x="11620500" y="95250"/>
                  </a:lnTo>
                  <a:close/>
                </a:path>
              </a:pathLst>
            </a:custGeom>
            <a:solidFill>
              <a:srgbClr val="FF572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7"/>
          <p:cNvSpPr txBox="1"/>
          <p:nvPr/>
        </p:nvSpPr>
        <p:spPr>
          <a:xfrm>
            <a:off x="9986619" y="6045200"/>
            <a:ext cx="14655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DONE BY TEAM C</a:t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55" name="Google Shape;55;p7"/>
          <p:cNvGrpSpPr/>
          <p:nvPr/>
        </p:nvGrpSpPr>
        <p:grpSpPr>
          <a:xfrm>
            <a:off x="762000" y="952499"/>
            <a:ext cx="5715000" cy="4695825"/>
            <a:chOff x="762000" y="952499"/>
            <a:chExt cx="5715000" cy="4695825"/>
          </a:xfrm>
        </p:grpSpPr>
        <p:sp>
          <p:nvSpPr>
            <p:cNvPr id="56" name="Google Shape;56;p7"/>
            <p:cNvSpPr/>
            <p:nvPr/>
          </p:nvSpPr>
          <p:spPr>
            <a:xfrm>
              <a:off x="762000" y="952499"/>
              <a:ext cx="95250" cy="1504950"/>
            </a:xfrm>
            <a:custGeom>
              <a:rect b="b" l="l" r="r" t="t"/>
              <a:pathLst>
                <a:path extrusionOk="0" h="1504950" w="95250">
                  <a:moveTo>
                    <a:pt x="95250" y="0"/>
                  </a:moveTo>
                  <a:lnTo>
                    <a:pt x="0" y="0"/>
                  </a:lnTo>
                  <a:lnTo>
                    <a:pt x="0" y="1504950"/>
                  </a:lnTo>
                  <a:lnTo>
                    <a:pt x="95250" y="15049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F572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762000" y="3533774"/>
              <a:ext cx="5715000" cy="2114550"/>
            </a:xfrm>
            <a:custGeom>
              <a:rect b="b" l="l" r="r" t="t"/>
              <a:pathLst>
                <a:path extrusionOk="0" h="2114550" w="5715000">
                  <a:moveTo>
                    <a:pt x="5715000" y="0"/>
                  </a:moveTo>
                  <a:lnTo>
                    <a:pt x="0" y="0"/>
                  </a:lnTo>
                  <a:lnTo>
                    <a:pt x="0" y="2114550"/>
                  </a:lnTo>
                  <a:lnTo>
                    <a:pt x="5715000" y="2114550"/>
                  </a:lnTo>
                  <a:lnTo>
                    <a:pt x="5715000" y="0"/>
                  </a:lnTo>
                  <a:close/>
                </a:path>
              </a:pathLst>
            </a:cu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766762" y="3538537"/>
              <a:ext cx="5705475" cy="2105025"/>
            </a:xfrm>
            <a:custGeom>
              <a:rect b="b" l="l" r="r" t="t"/>
              <a:pathLst>
                <a:path extrusionOk="0" h="2105025" w="5705475">
                  <a:moveTo>
                    <a:pt x="0" y="2105025"/>
                  </a:moveTo>
                  <a:lnTo>
                    <a:pt x="5705475" y="2105025"/>
                  </a:lnTo>
                  <a:lnTo>
                    <a:pt x="5705475" y="0"/>
                  </a:lnTo>
                  <a:lnTo>
                    <a:pt x="0" y="0"/>
                  </a:lnTo>
                  <a:lnTo>
                    <a:pt x="0" y="2105025"/>
                  </a:lnTo>
                  <a:close/>
                </a:path>
              </a:pathLst>
            </a:custGeom>
            <a:noFill/>
            <a:ln cap="flat" cmpd="sng" w="9525">
              <a:solidFill>
                <a:srgbClr val="0E294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9" name="Google Shape;5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57275" y="3857624"/>
              <a:ext cx="114300" cy="15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66800" y="4210049"/>
              <a:ext cx="152400" cy="15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57275" y="4562474"/>
              <a:ext cx="152400" cy="152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7"/>
          <p:cNvSpPr txBox="1"/>
          <p:nvPr/>
        </p:nvSpPr>
        <p:spPr>
          <a:xfrm>
            <a:off x="1130303" y="809625"/>
            <a:ext cx="95250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0E2941"/>
                </a:solidFill>
                <a:latin typeface="Tahoma"/>
                <a:ea typeface="Tahoma"/>
                <a:cs typeface="Tahoma"/>
                <a:sym typeface="Tahoma"/>
              </a:rPr>
              <a:t>Infosys Machine Learning System</a:t>
            </a:r>
            <a:endParaRPr b="1" sz="3800">
              <a:solidFill>
                <a:srgbClr val="0E294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0E2941"/>
                </a:solidFill>
                <a:latin typeface="Tahoma"/>
                <a:ea typeface="Tahoma"/>
                <a:cs typeface="Tahoma"/>
                <a:sym typeface="Tahoma"/>
              </a:rPr>
              <a:t>for Early Detection of Equipment</a:t>
            </a:r>
            <a:endParaRPr b="1" sz="3800">
              <a:solidFill>
                <a:srgbClr val="0E294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749300" y="2644775"/>
            <a:ext cx="6060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5721"/>
                </a:solidFill>
                <a:latin typeface="Courier New"/>
                <a:ea typeface="Courier New"/>
                <a:cs typeface="Courier New"/>
                <a:sym typeface="Courier New"/>
              </a:rPr>
              <a:t>AI-Powered Industrial Predictive Maintenance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" name="Google Shape;64;p7"/>
          <p:cNvSpPr txBox="1"/>
          <p:nvPr/>
        </p:nvSpPr>
        <p:spPr>
          <a:xfrm>
            <a:off x="1377950" y="3825875"/>
            <a:ext cx="3134400" cy="9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Infosys Springboard 7.0 Internship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33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Milestone 3 Submission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33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Domain: Artificial Intelligence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1057275" y="5076825"/>
            <a:ext cx="2609850" cy="276225"/>
          </a:xfrm>
          <a:custGeom>
            <a:rect b="b" l="l" r="r" t="t"/>
            <a:pathLst>
              <a:path extrusionOk="0" h="276225" w="2609850">
                <a:moveTo>
                  <a:pt x="2609850" y="0"/>
                </a:moveTo>
                <a:lnTo>
                  <a:pt x="0" y="0"/>
                </a:lnTo>
                <a:lnTo>
                  <a:pt x="0" y="276225"/>
                </a:lnTo>
                <a:lnTo>
                  <a:pt x="2609850" y="276225"/>
                </a:lnTo>
                <a:lnTo>
                  <a:pt x="2609850" y="0"/>
                </a:lnTo>
                <a:close/>
              </a:path>
            </a:pathLst>
          </a:custGeom>
          <a:solidFill>
            <a:srgbClr val="0E294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 txBox="1"/>
          <p:nvPr/>
        </p:nvSpPr>
        <p:spPr>
          <a:xfrm>
            <a:off x="1187450" y="5111750"/>
            <a:ext cx="23457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0F4F8"/>
                </a:solidFill>
                <a:latin typeface="Courier New"/>
                <a:ea typeface="Courier New"/>
                <a:cs typeface="Courier New"/>
                <a:sym typeface="Courier New"/>
              </a:rPr>
              <a:t>TECHNICAL REPORT PRESENTATION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71" name="Google Shape;71;p8"/>
          <p:cNvSpPr txBox="1"/>
          <p:nvPr>
            <p:ph type="title"/>
          </p:nvPr>
        </p:nvSpPr>
        <p:spPr>
          <a:xfrm>
            <a:off x="568325" y="558799"/>
            <a:ext cx="932624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ADDRESSING INDUSTRIAL DOWNTIME</a:t>
            </a:r>
            <a:endParaRPr/>
          </a:p>
        </p:txBody>
      </p:sp>
      <p:grpSp>
        <p:nvGrpSpPr>
          <p:cNvPr id="72" name="Google Shape;72;p8"/>
          <p:cNvGrpSpPr/>
          <p:nvPr/>
        </p:nvGrpSpPr>
        <p:grpSpPr>
          <a:xfrm>
            <a:off x="9525" y="1476374"/>
            <a:ext cx="6086475" cy="2571750"/>
            <a:chOff x="9525" y="1476374"/>
            <a:chExt cx="6086475" cy="2571750"/>
          </a:xfrm>
        </p:grpSpPr>
        <p:sp>
          <p:nvSpPr>
            <p:cNvPr id="73" name="Google Shape;73;p8"/>
            <p:cNvSpPr/>
            <p:nvPr/>
          </p:nvSpPr>
          <p:spPr>
            <a:xfrm>
              <a:off x="9525" y="1476374"/>
              <a:ext cx="6086475" cy="2571750"/>
            </a:xfrm>
            <a:custGeom>
              <a:rect b="b" l="l" r="r" t="t"/>
              <a:pathLst>
                <a:path extrusionOk="0" h="2571750" w="6086475">
                  <a:moveTo>
                    <a:pt x="6086475" y="0"/>
                  </a:moveTo>
                  <a:lnTo>
                    <a:pt x="6076950" y="0"/>
                  </a:lnTo>
                  <a:lnTo>
                    <a:pt x="6076950" y="2562225"/>
                  </a:lnTo>
                  <a:lnTo>
                    <a:pt x="0" y="2562225"/>
                  </a:lnTo>
                  <a:lnTo>
                    <a:pt x="0" y="2571750"/>
                  </a:lnTo>
                  <a:lnTo>
                    <a:pt x="6076950" y="2571750"/>
                  </a:lnTo>
                  <a:lnTo>
                    <a:pt x="6086475" y="2571750"/>
                  </a:lnTo>
                  <a:lnTo>
                    <a:pt x="6086475" y="2562225"/>
                  </a:lnTo>
                  <a:lnTo>
                    <a:pt x="6086475" y="0"/>
                  </a:lnTo>
                  <a:close/>
                </a:path>
              </a:pathLst>
            </a:custGeom>
            <a:solidFill>
              <a:srgbClr val="0E294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4" name="Google Shape;74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7350" y="1816099"/>
              <a:ext cx="196850" cy="1682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" name="Google Shape;75;p8"/>
          <p:cNvSpPr txBox="1"/>
          <p:nvPr/>
        </p:nvSpPr>
        <p:spPr>
          <a:xfrm>
            <a:off x="377825" y="1225550"/>
            <a:ext cx="5271770" cy="147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0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5721"/>
                </a:solidFill>
                <a:latin typeface="Courier New"/>
                <a:ea typeface="Courier New"/>
                <a:cs typeface="Courier New"/>
                <a:sym typeface="Courier New"/>
              </a:rPr>
              <a:t>// THE PROBLEM STATEMENT</a:t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6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5721"/>
                </a:solidFill>
                <a:latin typeface="Tahoma"/>
                <a:ea typeface="Tahoma"/>
                <a:cs typeface="Tahoma"/>
                <a:sym typeface="Tahoma"/>
              </a:rPr>
              <a:t>UNPLANNED BREAKDOWNS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34300"/>
              </a:lnSpc>
              <a:spcBef>
                <a:spcPts val="88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Unexpected machine failures cause production delays and financial losses. Reactive maintenance costs</a:t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" name="Google Shape;76;p8"/>
          <p:cNvSpPr txBox="1"/>
          <p:nvPr/>
        </p:nvSpPr>
        <p:spPr>
          <a:xfrm>
            <a:off x="390525" y="2714625"/>
            <a:ext cx="914400" cy="323850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txBody>
          <a:bodyPr anchorCtr="0" anchor="t" bIns="0" lIns="0" spcFirstLastPara="1" rIns="0" wrap="square" tIns="47625">
            <a:spAutoFit/>
          </a:bodyPr>
          <a:lstStyle/>
          <a:p>
            <a:pPr indent="0" lvl="0" marL="946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0F4F8"/>
                </a:solidFill>
                <a:latin typeface="Courier New"/>
                <a:ea typeface="Courier New"/>
                <a:cs typeface="Courier New"/>
                <a:sym typeface="Courier New"/>
              </a:rPr>
              <a:t>3x more</a:t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7" name="Google Shape;77;p8"/>
          <p:cNvSpPr txBox="1"/>
          <p:nvPr/>
        </p:nvSpPr>
        <p:spPr>
          <a:xfrm>
            <a:off x="1391373" y="2749550"/>
            <a:ext cx="2802890" cy="231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than predictive strategies.</a:t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78" name="Google Shape;78;p8"/>
          <p:cNvGrpSpPr/>
          <p:nvPr/>
        </p:nvGrpSpPr>
        <p:grpSpPr>
          <a:xfrm>
            <a:off x="6096000" y="1803400"/>
            <a:ext cx="6086475" cy="2244725"/>
            <a:chOff x="6096000" y="1803400"/>
            <a:chExt cx="6086475" cy="2244725"/>
          </a:xfrm>
        </p:grpSpPr>
        <p:sp>
          <p:nvSpPr>
            <p:cNvPr id="79" name="Google Shape;79;p8"/>
            <p:cNvSpPr/>
            <p:nvPr/>
          </p:nvSpPr>
          <p:spPr>
            <a:xfrm>
              <a:off x="6096000" y="4038600"/>
              <a:ext cx="6086475" cy="9525"/>
            </a:xfrm>
            <a:custGeom>
              <a:rect b="b" l="l" r="r" t="t"/>
              <a:pathLst>
                <a:path extrusionOk="0" h="9525" w="6086475">
                  <a:moveTo>
                    <a:pt x="60864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6086475" y="9525"/>
                  </a:lnTo>
                  <a:lnTo>
                    <a:pt x="6086475" y="0"/>
                  </a:lnTo>
                  <a:close/>
                </a:path>
              </a:pathLst>
            </a:custGeom>
            <a:solidFill>
              <a:srgbClr val="0E294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" name="Google Shape;80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6999" y="1803400"/>
              <a:ext cx="190500" cy="193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" name="Google Shape;81;p8"/>
          <p:cNvSpPr txBox="1"/>
          <p:nvPr/>
        </p:nvSpPr>
        <p:spPr>
          <a:xfrm>
            <a:off x="6464300" y="1739900"/>
            <a:ext cx="5168900" cy="150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46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5721"/>
                </a:solidFill>
                <a:latin typeface="Tahoma"/>
                <a:ea typeface="Tahoma"/>
                <a:cs typeface="Tahoma"/>
                <a:sym typeface="Tahoma"/>
              </a:rPr>
              <a:t>DATA COMPLEXITY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32700"/>
              </a:lnSpc>
              <a:spcBef>
                <a:spcPts val="91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High-dimensional sensor data (temperature, torque, rotational speed) is impossible for humans to monitor manually in real-time without automated intervention.</a:t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82" name="Google Shape;82;p8"/>
          <p:cNvGrpSpPr/>
          <p:nvPr/>
        </p:nvGrpSpPr>
        <p:grpSpPr>
          <a:xfrm>
            <a:off x="387350" y="4048125"/>
            <a:ext cx="5708650" cy="2571750"/>
            <a:chOff x="387350" y="4048125"/>
            <a:chExt cx="5708650" cy="2571750"/>
          </a:xfrm>
        </p:grpSpPr>
        <p:sp>
          <p:nvSpPr>
            <p:cNvPr id="83" name="Google Shape;83;p8"/>
            <p:cNvSpPr/>
            <p:nvPr/>
          </p:nvSpPr>
          <p:spPr>
            <a:xfrm>
              <a:off x="6086475" y="4048125"/>
              <a:ext cx="9525" cy="2571750"/>
            </a:xfrm>
            <a:custGeom>
              <a:rect b="b" l="l" r="r" t="t"/>
              <a:pathLst>
                <a:path extrusionOk="0" h="2571750" w="9525">
                  <a:moveTo>
                    <a:pt x="9525" y="0"/>
                  </a:moveTo>
                  <a:lnTo>
                    <a:pt x="0" y="0"/>
                  </a:lnTo>
                  <a:lnTo>
                    <a:pt x="0" y="2571750"/>
                  </a:lnTo>
                  <a:lnTo>
                    <a:pt x="9525" y="257175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E294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4" name="Google Shape;84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7350" y="4375150"/>
              <a:ext cx="244475" cy="196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" name="Google Shape;85;p8"/>
          <p:cNvSpPr txBox="1"/>
          <p:nvPr/>
        </p:nvSpPr>
        <p:spPr>
          <a:xfrm>
            <a:off x="377825" y="4311650"/>
            <a:ext cx="5066030" cy="1240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93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5721"/>
                </a:solidFill>
                <a:latin typeface="Tahoma"/>
                <a:ea typeface="Tahoma"/>
                <a:cs typeface="Tahoma"/>
                <a:sym typeface="Tahoma"/>
              </a:rPr>
              <a:t>THE "BLACK BOX" PROBLEM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34300"/>
              </a:lnSpc>
              <a:spcBef>
                <a:spcPts val="88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Standard AI models lack transparency. Maintenance engineers are hesitant to trust automated alerts without clear reasoning for the prediction.</a:t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6" name="Google Shape;8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4375150"/>
            <a:ext cx="200025" cy="1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"/>
          <p:cNvSpPr txBox="1"/>
          <p:nvPr/>
        </p:nvSpPr>
        <p:spPr>
          <a:xfrm>
            <a:off x="6464300" y="4311650"/>
            <a:ext cx="5271770" cy="1240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74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5721"/>
                </a:solidFill>
                <a:latin typeface="Tahoma"/>
                <a:ea typeface="Tahoma"/>
                <a:cs typeface="Tahoma"/>
                <a:sym typeface="Tahoma"/>
              </a:rPr>
              <a:t>DIAGNOSTIC GAP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34300"/>
              </a:lnSpc>
              <a:spcBef>
                <a:spcPts val="88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Knowing *that* a machine will fail is insufficient. Engineers require insights into *why* (TWF, HDF, PWF, etc.) to execute targeted repairs.</a:t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104775" y="104774"/>
            <a:ext cx="11982450" cy="6648450"/>
          </a:xfrm>
          <a:custGeom>
            <a:rect b="b" l="l" r="r" t="t"/>
            <a:pathLst>
              <a:path extrusionOk="0" h="6648450" w="11982450">
                <a:moveTo>
                  <a:pt x="190500" y="6553200"/>
                </a:moveTo>
                <a:lnTo>
                  <a:pt x="104775" y="6553200"/>
                </a:lnTo>
                <a:lnTo>
                  <a:pt x="104775" y="6457950"/>
                </a:lnTo>
                <a:lnTo>
                  <a:pt x="95250" y="6457950"/>
                </a:lnTo>
                <a:lnTo>
                  <a:pt x="95250" y="6553200"/>
                </a:lnTo>
                <a:lnTo>
                  <a:pt x="0" y="6553200"/>
                </a:lnTo>
                <a:lnTo>
                  <a:pt x="0" y="6562725"/>
                </a:lnTo>
                <a:lnTo>
                  <a:pt x="95250" y="6562725"/>
                </a:lnTo>
                <a:lnTo>
                  <a:pt x="95250" y="6648450"/>
                </a:lnTo>
                <a:lnTo>
                  <a:pt x="104775" y="6648450"/>
                </a:lnTo>
                <a:lnTo>
                  <a:pt x="104775" y="6562725"/>
                </a:lnTo>
                <a:lnTo>
                  <a:pt x="190500" y="6562725"/>
                </a:lnTo>
                <a:lnTo>
                  <a:pt x="190500" y="6553200"/>
                </a:lnTo>
                <a:close/>
              </a:path>
              <a:path extrusionOk="0" h="6648450" w="11982450">
                <a:moveTo>
                  <a:pt x="190500" y="95250"/>
                </a:moveTo>
                <a:lnTo>
                  <a:pt x="104775" y="95250"/>
                </a:lnTo>
                <a:lnTo>
                  <a:pt x="104775" y="0"/>
                </a:ln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104775"/>
                </a:lnTo>
                <a:lnTo>
                  <a:pt x="95250" y="104775"/>
                </a:lnTo>
                <a:lnTo>
                  <a:pt x="95250" y="190500"/>
                </a:lnTo>
                <a:lnTo>
                  <a:pt x="104775" y="190500"/>
                </a:lnTo>
                <a:lnTo>
                  <a:pt x="104775" y="104775"/>
                </a:lnTo>
                <a:lnTo>
                  <a:pt x="190500" y="104775"/>
                </a:lnTo>
                <a:lnTo>
                  <a:pt x="190500" y="95250"/>
                </a:lnTo>
                <a:close/>
              </a:path>
              <a:path extrusionOk="0" h="6648450" w="11982450">
                <a:moveTo>
                  <a:pt x="11982450" y="6553200"/>
                </a:moveTo>
                <a:lnTo>
                  <a:pt x="11896725" y="6553200"/>
                </a:lnTo>
                <a:lnTo>
                  <a:pt x="11896725" y="6457950"/>
                </a:lnTo>
                <a:lnTo>
                  <a:pt x="11887200" y="6457950"/>
                </a:lnTo>
                <a:lnTo>
                  <a:pt x="11887200" y="6372225"/>
                </a:lnTo>
                <a:lnTo>
                  <a:pt x="11849100" y="6372225"/>
                </a:lnTo>
                <a:lnTo>
                  <a:pt x="11849100" y="6553200"/>
                </a:lnTo>
                <a:lnTo>
                  <a:pt x="11791950" y="6553200"/>
                </a:lnTo>
                <a:lnTo>
                  <a:pt x="11791950" y="6562725"/>
                </a:lnTo>
                <a:lnTo>
                  <a:pt x="11887200" y="6562725"/>
                </a:lnTo>
                <a:lnTo>
                  <a:pt x="11887200" y="6648450"/>
                </a:lnTo>
                <a:lnTo>
                  <a:pt x="11896725" y="6648450"/>
                </a:lnTo>
                <a:lnTo>
                  <a:pt x="11896725" y="6562725"/>
                </a:lnTo>
                <a:lnTo>
                  <a:pt x="11982450" y="6562725"/>
                </a:lnTo>
                <a:lnTo>
                  <a:pt x="11982450" y="6553200"/>
                </a:lnTo>
                <a:close/>
              </a:path>
              <a:path extrusionOk="0" h="6648450" w="11982450">
                <a:moveTo>
                  <a:pt x="11982450" y="95250"/>
                </a:moveTo>
                <a:lnTo>
                  <a:pt x="11896725" y="95250"/>
                </a:lnTo>
                <a:lnTo>
                  <a:pt x="11896725" y="0"/>
                </a:lnTo>
                <a:lnTo>
                  <a:pt x="11887200" y="0"/>
                </a:lnTo>
                <a:lnTo>
                  <a:pt x="11887200" y="95250"/>
                </a:lnTo>
                <a:lnTo>
                  <a:pt x="11791950" y="95250"/>
                </a:lnTo>
                <a:lnTo>
                  <a:pt x="11791950" y="104775"/>
                </a:lnTo>
                <a:lnTo>
                  <a:pt x="11887200" y="104775"/>
                </a:lnTo>
                <a:lnTo>
                  <a:pt x="11887200" y="190500"/>
                </a:lnTo>
                <a:lnTo>
                  <a:pt x="11896725" y="190500"/>
                </a:lnTo>
                <a:lnTo>
                  <a:pt x="11896725" y="104775"/>
                </a:lnTo>
                <a:lnTo>
                  <a:pt x="11982450" y="104775"/>
                </a:lnTo>
                <a:lnTo>
                  <a:pt x="11982450" y="95250"/>
                </a:lnTo>
                <a:close/>
              </a:path>
            </a:pathLst>
          </a:custGeom>
          <a:solidFill>
            <a:srgbClr val="FF57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/>
          <p:cNvSpPr txBox="1"/>
          <p:nvPr>
            <p:ph idx="11" type="ftr"/>
          </p:nvPr>
        </p:nvSpPr>
        <p:spPr>
          <a:xfrm>
            <a:off x="10725696" y="6455099"/>
            <a:ext cx="1145540" cy="264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DONE BY TEAM C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94" name="Google Shape;94;p9"/>
          <p:cNvSpPr txBox="1"/>
          <p:nvPr>
            <p:ph type="title"/>
          </p:nvPr>
        </p:nvSpPr>
        <p:spPr>
          <a:xfrm>
            <a:off x="571500" y="476250"/>
            <a:ext cx="11049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E2941"/>
                </a:solidFill>
                <a:latin typeface="Tahoma"/>
                <a:ea typeface="Tahoma"/>
                <a:cs typeface="Tahoma"/>
                <a:sym typeface="Tahoma"/>
              </a:rPr>
              <a:t>ROBUST MICRO-SERVICES ARCHITECTURE</a:t>
            </a:r>
            <a:endParaRPr b="1" sz="3200">
              <a:solidFill>
                <a:srgbClr val="0E294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" name="Google Shape;95;p9"/>
          <p:cNvSpPr txBox="1"/>
          <p:nvPr/>
        </p:nvSpPr>
        <p:spPr>
          <a:xfrm>
            <a:off x="571500" y="1095375"/>
            <a:ext cx="57150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5721"/>
                </a:solidFill>
                <a:latin typeface="Courier New"/>
                <a:ea typeface="Courier New"/>
                <a:cs typeface="Courier New"/>
                <a:sym typeface="Courier New"/>
              </a:rPr>
              <a:t>// SYSTEM DESIGN &amp; TECHNOLOGY STACK</a:t>
            </a:r>
            <a:endParaRPr b="1" sz="1300">
              <a:solidFill>
                <a:srgbClr val="FF572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96" name="Google Shape;96;p9"/>
          <p:cNvGrpSpPr/>
          <p:nvPr/>
        </p:nvGrpSpPr>
        <p:grpSpPr>
          <a:xfrm>
            <a:off x="4157663" y="1524000"/>
            <a:ext cx="3867225" cy="3619500"/>
            <a:chOff x="4157663" y="1524000"/>
            <a:chExt cx="3867225" cy="3619500"/>
          </a:xfrm>
        </p:grpSpPr>
        <p:pic>
          <p:nvPicPr>
            <p:cNvPr id="97" name="Google Shape;97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57663" y="1524000"/>
              <a:ext cx="9600" cy="3619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15288" y="1524000"/>
              <a:ext cx="9600" cy="3619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" name="Google Shape;99;p9"/>
          <p:cNvSpPr txBox="1"/>
          <p:nvPr>
            <p:ph idx="11" type="ftr"/>
          </p:nvPr>
        </p:nvSpPr>
        <p:spPr>
          <a:xfrm>
            <a:off x="10725696" y="6455099"/>
            <a:ext cx="11454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DONE BY TEAM C</a:t>
            </a:r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571500" y="1524000"/>
            <a:ext cx="3333900" cy="3905325"/>
            <a:chOff x="571500" y="1524000"/>
            <a:chExt cx="3333900" cy="3905325"/>
          </a:xfrm>
        </p:grpSpPr>
        <p:grpSp>
          <p:nvGrpSpPr>
            <p:cNvPr id="101" name="Google Shape;101;p9"/>
            <p:cNvGrpSpPr/>
            <p:nvPr/>
          </p:nvGrpSpPr>
          <p:grpSpPr>
            <a:xfrm>
              <a:off x="571500" y="1524000"/>
              <a:ext cx="1619100" cy="247800"/>
              <a:chOff x="0" y="0"/>
              <a:chExt cx="1619100" cy="247800"/>
            </a:xfrm>
          </p:grpSpPr>
          <p:sp>
            <p:nvSpPr>
              <p:cNvPr id="102" name="Google Shape;102;p9"/>
              <p:cNvSpPr/>
              <p:nvPr/>
            </p:nvSpPr>
            <p:spPr>
              <a:xfrm>
                <a:off x="0" y="0"/>
                <a:ext cx="1619100" cy="247800"/>
              </a:xfrm>
              <a:prstGeom prst="roundRect">
                <a:avLst>
                  <a:gd fmla="val 15384" name="adj"/>
                </a:avLst>
              </a:prstGeom>
              <a:solidFill>
                <a:srgbClr val="0E294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9"/>
              <p:cNvSpPr txBox="1"/>
              <p:nvPr/>
            </p:nvSpPr>
            <p:spPr>
              <a:xfrm>
                <a:off x="0" y="0"/>
                <a:ext cx="16191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F0F4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PRESENTATION LAYER</a:t>
                </a:r>
                <a:endParaRPr b="1" sz="950">
                  <a:solidFill>
                    <a:srgbClr val="F0F4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04" name="Google Shape;104;p9"/>
            <p:cNvSpPr txBox="1"/>
            <p:nvPr/>
          </p:nvSpPr>
          <p:spPr>
            <a:xfrm>
              <a:off x="571500" y="1905000"/>
              <a:ext cx="3238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5721"/>
                  </a:solidFill>
                  <a:latin typeface="Tahoma"/>
                  <a:ea typeface="Tahoma"/>
                  <a:cs typeface="Tahoma"/>
                  <a:sym typeface="Tahoma"/>
                </a:rPr>
                <a:t>FRONTEND SPA</a:t>
              </a:r>
              <a:endParaRPr b="1" sz="1800">
                <a:solidFill>
                  <a:srgbClr val="FF572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pic>
          <p:nvPicPr>
            <p:cNvPr id="105" name="Google Shape;105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1500" y="2324100"/>
              <a:ext cx="3333900" cy="1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6" name="Google Shape;106;p9"/>
            <p:cNvGrpSpPr/>
            <p:nvPr/>
          </p:nvGrpSpPr>
          <p:grpSpPr>
            <a:xfrm>
              <a:off x="571500" y="2524125"/>
              <a:ext cx="3238500" cy="619200"/>
              <a:chOff x="0" y="0"/>
              <a:chExt cx="3238500" cy="619200"/>
            </a:xfrm>
          </p:grpSpPr>
          <p:sp>
            <p:nvSpPr>
              <p:cNvPr id="107" name="Google Shape;107;p9"/>
              <p:cNvSpPr txBox="1"/>
              <p:nvPr/>
            </p:nvSpPr>
            <p:spPr>
              <a:xfrm>
                <a:off x="0" y="4241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572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</a:t>
                </a:r>
                <a:endParaRPr sz="1600">
                  <a:solidFill>
                    <a:srgbClr val="FF572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08" name="Google Shape;108;p9"/>
              <p:cNvSpPr txBox="1"/>
              <p:nvPr/>
            </p:nvSpPr>
            <p:spPr>
              <a:xfrm>
                <a:off x="266700" y="0"/>
                <a:ext cx="2971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0E294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React 18 + Vite 5 for lightning-fast HMR and performance.</a:t>
                </a:r>
                <a:endParaRPr sz="1150">
                  <a:solidFill>
                    <a:srgbClr val="0E294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9" name="Google Shape;109;p9"/>
            <p:cNvGrpSpPr/>
            <p:nvPr/>
          </p:nvGrpSpPr>
          <p:grpSpPr>
            <a:xfrm>
              <a:off x="571500" y="3286125"/>
              <a:ext cx="3238500" cy="619200"/>
              <a:chOff x="0" y="0"/>
              <a:chExt cx="3238500" cy="619200"/>
            </a:xfrm>
          </p:grpSpPr>
          <p:sp>
            <p:nvSpPr>
              <p:cNvPr id="110" name="Google Shape;110;p9"/>
              <p:cNvSpPr txBox="1"/>
              <p:nvPr/>
            </p:nvSpPr>
            <p:spPr>
              <a:xfrm>
                <a:off x="0" y="4241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572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</a:t>
                </a:r>
                <a:endParaRPr sz="1600">
                  <a:solidFill>
                    <a:srgbClr val="FF572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11" name="Google Shape;111;p9"/>
              <p:cNvSpPr txBox="1"/>
              <p:nvPr/>
            </p:nvSpPr>
            <p:spPr>
              <a:xfrm>
                <a:off x="266700" y="0"/>
                <a:ext cx="2971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0E294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TypeScript 5 for strict type safety across components.</a:t>
                </a:r>
                <a:endParaRPr sz="1150">
                  <a:solidFill>
                    <a:srgbClr val="0E294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12" name="Google Shape;112;p9"/>
            <p:cNvGrpSpPr/>
            <p:nvPr/>
          </p:nvGrpSpPr>
          <p:grpSpPr>
            <a:xfrm>
              <a:off x="571500" y="4048125"/>
              <a:ext cx="3238500" cy="619200"/>
              <a:chOff x="0" y="0"/>
              <a:chExt cx="3238500" cy="619200"/>
            </a:xfrm>
          </p:grpSpPr>
          <p:sp>
            <p:nvSpPr>
              <p:cNvPr id="113" name="Google Shape;113;p9"/>
              <p:cNvSpPr txBox="1"/>
              <p:nvPr/>
            </p:nvSpPr>
            <p:spPr>
              <a:xfrm>
                <a:off x="0" y="4241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572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</a:t>
                </a:r>
                <a:endParaRPr sz="1600">
                  <a:solidFill>
                    <a:srgbClr val="FF572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14" name="Google Shape;114;p9"/>
              <p:cNvSpPr txBox="1"/>
              <p:nvPr/>
            </p:nvSpPr>
            <p:spPr>
              <a:xfrm>
                <a:off x="266700" y="0"/>
                <a:ext cx="2971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0E294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Tailwind CSS 3 with Industrial Dark Mode UI.</a:t>
                </a:r>
                <a:endParaRPr sz="1150">
                  <a:solidFill>
                    <a:srgbClr val="0E294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15" name="Google Shape;115;p9"/>
            <p:cNvGrpSpPr/>
            <p:nvPr/>
          </p:nvGrpSpPr>
          <p:grpSpPr>
            <a:xfrm>
              <a:off x="571500" y="4810125"/>
              <a:ext cx="3238500" cy="619200"/>
              <a:chOff x="0" y="0"/>
              <a:chExt cx="3238500" cy="619200"/>
            </a:xfrm>
          </p:grpSpPr>
          <p:sp>
            <p:nvSpPr>
              <p:cNvPr id="116" name="Google Shape;116;p9"/>
              <p:cNvSpPr txBox="1"/>
              <p:nvPr/>
            </p:nvSpPr>
            <p:spPr>
              <a:xfrm>
                <a:off x="0" y="4241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572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</a:t>
                </a:r>
                <a:endParaRPr sz="1600">
                  <a:solidFill>
                    <a:srgbClr val="FF572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17" name="Google Shape;117;p9"/>
              <p:cNvSpPr txBox="1"/>
              <p:nvPr/>
            </p:nvSpPr>
            <p:spPr>
              <a:xfrm>
                <a:off x="266700" y="0"/>
                <a:ext cx="2971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0E294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Recharts for real-time telemetry visualization.</a:t>
                </a:r>
                <a:endParaRPr sz="1150">
                  <a:solidFill>
                    <a:srgbClr val="0E294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118" name="Google Shape;118;p9"/>
          <p:cNvGrpSpPr/>
          <p:nvPr/>
        </p:nvGrpSpPr>
        <p:grpSpPr>
          <a:xfrm>
            <a:off x="4429125" y="1524000"/>
            <a:ext cx="3333900" cy="3905325"/>
            <a:chOff x="4429125" y="1524000"/>
            <a:chExt cx="3333900" cy="3905325"/>
          </a:xfrm>
        </p:grpSpPr>
        <p:grpSp>
          <p:nvGrpSpPr>
            <p:cNvPr id="119" name="Google Shape;119;p9"/>
            <p:cNvGrpSpPr/>
            <p:nvPr/>
          </p:nvGrpSpPr>
          <p:grpSpPr>
            <a:xfrm>
              <a:off x="4429125" y="1524000"/>
              <a:ext cx="1619100" cy="247800"/>
              <a:chOff x="0" y="0"/>
              <a:chExt cx="1619100" cy="247800"/>
            </a:xfrm>
          </p:grpSpPr>
          <p:sp>
            <p:nvSpPr>
              <p:cNvPr id="120" name="Google Shape;120;p9"/>
              <p:cNvSpPr/>
              <p:nvPr/>
            </p:nvSpPr>
            <p:spPr>
              <a:xfrm>
                <a:off x="0" y="0"/>
                <a:ext cx="1619100" cy="247800"/>
              </a:xfrm>
              <a:prstGeom prst="roundRect">
                <a:avLst>
                  <a:gd fmla="val 15384" name="adj"/>
                </a:avLst>
              </a:prstGeom>
              <a:solidFill>
                <a:srgbClr val="0E294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9"/>
              <p:cNvSpPr txBox="1"/>
              <p:nvPr/>
            </p:nvSpPr>
            <p:spPr>
              <a:xfrm>
                <a:off x="0" y="0"/>
                <a:ext cx="16191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F0F4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APPLICATION LAYER</a:t>
                </a:r>
                <a:endParaRPr b="1" sz="950">
                  <a:solidFill>
                    <a:srgbClr val="F0F4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22" name="Google Shape;122;p9"/>
            <p:cNvSpPr txBox="1"/>
            <p:nvPr/>
          </p:nvSpPr>
          <p:spPr>
            <a:xfrm>
              <a:off x="4429125" y="1905000"/>
              <a:ext cx="3238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5721"/>
                  </a:solidFill>
                  <a:latin typeface="Tahoma"/>
                  <a:ea typeface="Tahoma"/>
                  <a:cs typeface="Tahoma"/>
                  <a:sym typeface="Tahoma"/>
                </a:rPr>
                <a:t>FASTAPI BACKEND</a:t>
              </a:r>
              <a:endParaRPr b="1" sz="1800">
                <a:solidFill>
                  <a:srgbClr val="FF572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pic>
          <p:nvPicPr>
            <p:cNvPr id="123" name="Google Shape;123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29125" y="2324100"/>
              <a:ext cx="3333900" cy="1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" name="Google Shape;124;p9"/>
            <p:cNvGrpSpPr/>
            <p:nvPr/>
          </p:nvGrpSpPr>
          <p:grpSpPr>
            <a:xfrm>
              <a:off x="4429125" y="2524125"/>
              <a:ext cx="3238500" cy="619200"/>
              <a:chOff x="0" y="0"/>
              <a:chExt cx="3238500" cy="619200"/>
            </a:xfrm>
          </p:grpSpPr>
          <p:sp>
            <p:nvSpPr>
              <p:cNvPr id="125" name="Google Shape;125;p9"/>
              <p:cNvSpPr txBox="1"/>
              <p:nvPr/>
            </p:nvSpPr>
            <p:spPr>
              <a:xfrm>
                <a:off x="0" y="4241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572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</a:t>
                </a:r>
                <a:endParaRPr sz="1600">
                  <a:solidFill>
                    <a:srgbClr val="FF572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6" name="Google Shape;126;p9"/>
              <p:cNvSpPr txBox="1"/>
              <p:nvPr/>
            </p:nvSpPr>
            <p:spPr>
              <a:xfrm>
                <a:off x="266700" y="0"/>
                <a:ext cx="2971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0E294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FastAPI Async Server for high-concurrency sensor handling.</a:t>
                </a:r>
                <a:endParaRPr sz="1150">
                  <a:solidFill>
                    <a:srgbClr val="0E294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27" name="Google Shape;127;p9"/>
            <p:cNvGrpSpPr/>
            <p:nvPr/>
          </p:nvGrpSpPr>
          <p:grpSpPr>
            <a:xfrm>
              <a:off x="4429125" y="3286125"/>
              <a:ext cx="3238500" cy="619200"/>
              <a:chOff x="0" y="0"/>
              <a:chExt cx="3238500" cy="619200"/>
            </a:xfrm>
          </p:grpSpPr>
          <p:sp>
            <p:nvSpPr>
              <p:cNvPr id="128" name="Google Shape;128;p9"/>
              <p:cNvSpPr txBox="1"/>
              <p:nvPr/>
            </p:nvSpPr>
            <p:spPr>
              <a:xfrm>
                <a:off x="0" y="4241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572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</a:t>
                </a:r>
                <a:endParaRPr sz="1600">
                  <a:solidFill>
                    <a:srgbClr val="FF572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9" name="Google Shape;129;p9"/>
              <p:cNvSpPr txBox="1"/>
              <p:nvPr/>
            </p:nvSpPr>
            <p:spPr>
              <a:xfrm>
                <a:off x="266700" y="0"/>
                <a:ext cx="2971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0E294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JWT Authentication &amp; Bcrypt for secure access control.</a:t>
                </a:r>
                <a:endParaRPr sz="1150">
                  <a:solidFill>
                    <a:srgbClr val="0E294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30" name="Google Shape;130;p9"/>
            <p:cNvGrpSpPr/>
            <p:nvPr/>
          </p:nvGrpSpPr>
          <p:grpSpPr>
            <a:xfrm>
              <a:off x="4429125" y="4048125"/>
              <a:ext cx="3238500" cy="619200"/>
              <a:chOff x="0" y="0"/>
              <a:chExt cx="3238500" cy="619200"/>
            </a:xfrm>
          </p:grpSpPr>
          <p:sp>
            <p:nvSpPr>
              <p:cNvPr id="131" name="Google Shape;131;p9"/>
              <p:cNvSpPr txBox="1"/>
              <p:nvPr/>
            </p:nvSpPr>
            <p:spPr>
              <a:xfrm>
                <a:off x="0" y="4241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572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</a:t>
                </a:r>
                <a:endParaRPr sz="1600">
                  <a:solidFill>
                    <a:srgbClr val="FF572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32" name="Google Shape;132;p9"/>
              <p:cNvSpPr txBox="1"/>
              <p:nvPr/>
            </p:nvSpPr>
            <p:spPr>
              <a:xfrm>
                <a:off x="266700" y="0"/>
                <a:ext cx="2971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0E294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Pydantic v2 for robust data validation and serialization.</a:t>
                </a:r>
                <a:endParaRPr sz="1150">
                  <a:solidFill>
                    <a:srgbClr val="0E294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33" name="Google Shape;133;p9"/>
            <p:cNvGrpSpPr/>
            <p:nvPr/>
          </p:nvGrpSpPr>
          <p:grpSpPr>
            <a:xfrm>
              <a:off x="4429125" y="4810125"/>
              <a:ext cx="3238500" cy="619200"/>
              <a:chOff x="0" y="0"/>
              <a:chExt cx="3238500" cy="619200"/>
            </a:xfrm>
          </p:grpSpPr>
          <p:sp>
            <p:nvSpPr>
              <p:cNvPr id="134" name="Google Shape;134;p9"/>
              <p:cNvSpPr txBox="1"/>
              <p:nvPr/>
            </p:nvSpPr>
            <p:spPr>
              <a:xfrm>
                <a:off x="0" y="4241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572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</a:t>
                </a:r>
                <a:endParaRPr sz="1600">
                  <a:solidFill>
                    <a:srgbClr val="FF572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35" name="Google Shape;135;p9"/>
              <p:cNvSpPr txBox="1"/>
              <p:nvPr/>
            </p:nvSpPr>
            <p:spPr>
              <a:xfrm>
                <a:off x="266700" y="0"/>
                <a:ext cx="2971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0E294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ReportLab for automated PDF maintenance directives.</a:t>
                </a:r>
                <a:endParaRPr sz="1150">
                  <a:solidFill>
                    <a:srgbClr val="0E294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136" name="Google Shape;136;p9"/>
          <p:cNvGrpSpPr/>
          <p:nvPr/>
        </p:nvGrpSpPr>
        <p:grpSpPr>
          <a:xfrm>
            <a:off x="8286750" y="1524000"/>
            <a:ext cx="3238500" cy="3905325"/>
            <a:chOff x="8286750" y="1524000"/>
            <a:chExt cx="3238500" cy="3905325"/>
          </a:xfrm>
        </p:grpSpPr>
        <p:grpSp>
          <p:nvGrpSpPr>
            <p:cNvPr id="137" name="Google Shape;137;p9"/>
            <p:cNvGrpSpPr/>
            <p:nvPr/>
          </p:nvGrpSpPr>
          <p:grpSpPr>
            <a:xfrm>
              <a:off x="8286750" y="1524000"/>
              <a:ext cx="1809600" cy="247800"/>
              <a:chOff x="0" y="0"/>
              <a:chExt cx="1809600" cy="247800"/>
            </a:xfrm>
          </p:grpSpPr>
          <p:sp>
            <p:nvSpPr>
              <p:cNvPr id="138" name="Google Shape;138;p9"/>
              <p:cNvSpPr/>
              <p:nvPr/>
            </p:nvSpPr>
            <p:spPr>
              <a:xfrm>
                <a:off x="0" y="0"/>
                <a:ext cx="1809600" cy="247800"/>
              </a:xfrm>
              <a:prstGeom prst="roundRect">
                <a:avLst>
                  <a:gd fmla="val 15384" name="adj"/>
                </a:avLst>
              </a:prstGeom>
              <a:solidFill>
                <a:srgbClr val="0E294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9"/>
              <p:cNvSpPr txBox="1"/>
              <p:nvPr/>
            </p:nvSpPr>
            <p:spPr>
              <a:xfrm>
                <a:off x="0" y="0"/>
                <a:ext cx="18096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F0F4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DATA &amp; INFERENCE LAYER</a:t>
                </a:r>
                <a:endParaRPr b="1" sz="950">
                  <a:solidFill>
                    <a:srgbClr val="F0F4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40" name="Google Shape;140;p9"/>
            <p:cNvSpPr txBox="1"/>
            <p:nvPr/>
          </p:nvSpPr>
          <p:spPr>
            <a:xfrm>
              <a:off x="8286750" y="1905000"/>
              <a:ext cx="3238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5721"/>
                  </a:solidFill>
                  <a:latin typeface="Tahoma"/>
                  <a:ea typeface="Tahoma"/>
                  <a:cs typeface="Tahoma"/>
                  <a:sym typeface="Tahoma"/>
                </a:rPr>
                <a:t>STORAGE &amp; ML</a:t>
              </a:r>
              <a:endParaRPr b="1" sz="1800">
                <a:solidFill>
                  <a:srgbClr val="FF572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pic>
          <p:nvPicPr>
            <p:cNvPr id="141" name="Google Shape;141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286750" y="2324100"/>
              <a:ext cx="857400" cy="1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2" name="Google Shape;142;p9"/>
            <p:cNvGrpSpPr/>
            <p:nvPr/>
          </p:nvGrpSpPr>
          <p:grpSpPr>
            <a:xfrm>
              <a:off x="8286750" y="2524125"/>
              <a:ext cx="3238500" cy="619200"/>
              <a:chOff x="0" y="0"/>
              <a:chExt cx="3238500" cy="619200"/>
            </a:xfrm>
          </p:grpSpPr>
          <p:sp>
            <p:nvSpPr>
              <p:cNvPr id="143" name="Google Shape;143;p9"/>
              <p:cNvSpPr txBox="1"/>
              <p:nvPr/>
            </p:nvSpPr>
            <p:spPr>
              <a:xfrm>
                <a:off x="0" y="4241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572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</a:t>
                </a:r>
                <a:endParaRPr sz="1600">
                  <a:solidFill>
                    <a:srgbClr val="FF572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44" name="Google Shape;144;p9"/>
              <p:cNvSpPr txBox="1"/>
              <p:nvPr/>
            </p:nvSpPr>
            <p:spPr>
              <a:xfrm>
                <a:off x="266700" y="0"/>
                <a:ext cx="2971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0E294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MongoDB with Motor Driver for asynchronous persistence.</a:t>
                </a:r>
                <a:endParaRPr sz="1150">
                  <a:solidFill>
                    <a:srgbClr val="0E294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45" name="Google Shape;145;p9"/>
            <p:cNvGrpSpPr/>
            <p:nvPr/>
          </p:nvGrpSpPr>
          <p:grpSpPr>
            <a:xfrm>
              <a:off x="8286750" y="3286125"/>
              <a:ext cx="3238500" cy="619200"/>
              <a:chOff x="0" y="0"/>
              <a:chExt cx="3238500" cy="619200"/>
            </a:xfrm>
          </p:grpSpPr>
          <p:sp>
            <p:nvSpPr>
              <p:cNvPr id="146" name="Google Shape;146;p9"/>
              <p:cNvSpPr txBox="1"/>
              <p:nvPr/>
            </p:nvSpPr>
            <p:spPr>
              <a:xfrm>
                <a:off x="0" y="4241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572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</a:t>
                </a:r>
                <a:endParaRPr sz="1600">
                  <a:solidFill>
                    <a:srgbClr val="FF572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47" name="Google Shape;147;p9"/>
              <p:cNvSpPr txBox="1"/>
              <p:nvPr/>
            </p:nvSpPr>
            <p:spPr>
              <a:xfrm>
                <a:off x="266700" y="0"/>
                <a:ext cx="2971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0E294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Dual-Stage Inference Engine (LightGBM + Random Forest).</a:t>
                </a:r>
                <a:endParaRPr sz="1150">
                  <a:solidFill>
                    <a:srgbClr val="0E294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48" name="Google Shape;148;p9"/>
            <p:cNvGrpSpPr/>
            <p:nvPr/>
          </p:nvGrpSpPr>
          <p:grpSpPr>
            <a:xfrm>
              <a:off x="8286750" y="4048125"/>
              <a:ext cx="3238500" cy="619200"/>
              <a:chOff x="0" y="0"/>
              <a:chExt cx="3238500" cy="619200"/>
            </a:xfrm>
          </p:grpSpPr>
          <p:sp>
            <p:nvSpPr>
              <p:cNvPr id="149" name="Google Shape;149;p9"/>
              <p:cNvSpPr txBox="1"/>
              <p:nvPr/>
            </p:nvSpPr>
            <p:spPr>
              <a:xfrm>
                <a:off x="0" y="4241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572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</a:t>
                </a:r>
                <a:endParaRPr sz="1600">
                  <a:solidFill>
                    <a:srgbClr val="FF572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50" name="Google Shape;150;p9"/>
              <p:cNvSpPr txBox="1"/>
              <p:nvPr/>
            </p:nvSpPr>
            <p:spPr>
              <a:xfrm>
                <a:off x="266700" y="0"/>
                <a:ext cx="2971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0E294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SHAP Integration for real-time explainable AI.</a:t>
                </a:r>
                <a:endParaRPr sz="1150">
                  <a:solidFill>
                    <a:srgbClr val="0E294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51" name="Google Shape;151;p9"/>
            <p:cNvGrpSpPr/>
            <p:nvPr/>
          </p:nvGrpSpPr>
          <p:grpSpPr>
            <a:xfrm>
              <a:off x="8286750" y="4810125"/>
              <a:ext cx="3238500" cy="619200"/>
              <a:chOff x="0" y="0"/>
              <a:chExt cx="3238500" cy="619200"/>
            </a:xfrm>
          </p:grpSpPr>
          <p:sp>
            <p:nvSpPr>
              <p:cNvPr id="152" name="Google Shape;152;p9"/>
              <p:cNvSpPr txBox="1"/>
              <p:nvPr/>
            </p:nvSpPr>
            <p:spPr>
              <a:xfrm>
                <a:off x="0" y="4241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572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</a:t>
                </a:r>
                <a:endParaRPr sz="1600">
                  <a:solidFill>
                    <a:srgbClr val="FF572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53" name="Google Shape;153;p9"/>
              <p:cNvSpPr txBox="1"/>
              <p:nvPr/>
            </p:nvSpPr>
            <p:spPr>
              <a:xfrm>
                <a:off x="266700" y="0"/>
                <a:ext cx="2971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0E294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Docker &amp; Nginx for containerized orchestration.</a:t>
                </a:r>
                <a:endParaRPr sz="1150">
                  <a:solidFill>
                    <a:srgbClr val="0E294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58" name="Google Shape;158;p10"/>
          <p:cNvSpPr txBox="1"/>
          <p:nvPr>
            <p:ph type="title"/>
          </p:nvPr>
        </p:nvSpPr>
        <p:spPr>
          <a:xfrm>
            <a:off x="571500" y="476250"/>
            <a:ext cx="11049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E2941"/>
                </a:solidFill>
                <a:latin typeface="Tahoma"/>
                <a:ea typeface="Tahoma"/>
                <a:cs typeface="Tahoma"/>
                <a:sym typeface="Tahoma"/>
              </a:rPr>
              <a:t>ADVANCED MACHINE LEARNING ENGINE</a:t>
            </a:r>
            <a:endParaRPr b="1" sz="3200">
              <a:solidFill>
                <a:srgbClr val="0E294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571500" y="1095375"/>
            <a:ext cx="57150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5721"/>
                </a:solidFill>
                <a:latin typeface="Courier New"/>
                <a:ea typeface="Courier New"/>
                <a:cs typeface="Courier New"/>
                <a:sym typeface="Courier New"/>
              </a:rPr>
              <a:t>// DUAL-STAGE DETECTION &amp; EXPLAINABLE AI</a:t>
            </a:r>
            <a:endParaRPr b="1" sz="1300">
              <a:solidFill>
                <a:srgbClr val="FF572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60" name="Google Shape;160;p10"/>
          <p:cNvGrpSpPr/>
          <p:nvPr/>
        </p:nvGrpSpPr>
        <p:grpSpPr>
          <a:xfrm>
            <a:off x="-524" y="-22225"/>
            <a:ext cx="12192143" cy="6830995"/>
            <a:chOff x="104775" y="104774"/>
            <a:chExt cx="11982450" cy="6705600"/>
          </a:xfrm>
        </p:grpSpPr>
        <p:sp>
          <p:nvSpPr>
            <p:cNvPr id="161" name="Google Shape;161;p10"/>
            <p:cNvSpPr/>
            <p:nvPr/>
          </p:nvSpPr>
          <p:spPr>
            <a:xfrm>
              <a:off x="6096000" y="1571625"/>
              <a:ext cx="9525" cy="4234815"/>
            </a:xfrm>
            <a:custGeom>
              <a:rect b="b" l="l" r="r" t="t"/>
              <a:pathLst>
                <a:path extrusionOk="0" h="5429250" w="9525">
                  <a:moveTo>
                    <a:pt x="9525" y="0"/>
                  </a:moveTo>
                  <a:lnTo>
                    <a:pt x="0" y="0"/>
                  </a:lnTo>
                  <a:lnTo>
                    <a:pt x="0" y="5429250"/>
                  </a:lnTo>
                  <a:lnTo>
                    <a:pt x="9525" y="542925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E294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2" name="Google Shape;162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81025" y="1870074"/>
              <a:ext cx="209550" cy="21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0"/>
            <p:cNvSpPr/>
            <p:nvPr/>
          </p:nvSpPr>
          <p:spPr>
            <a:xfrm>
              <a:off x="6667500" y="3352799"/>
              <a:ext cx="4943475" cy="695325"/>
            </a:xfrm>
            <a:custGeom>
              <a:rect b="b" l="l" r="r" t="t"/>
              <a:pathLst>
                <a:path extrusionOk="0" h="695325" w="4943475">
                  <a:moveTo>
                    <a:pt x="4943475" y="685800"/>
                  </a:moveTo>
                  <a:lnTo>
                    <a:pt x="3533775" y="685800"/>
                  </a:lnTo>
                  <a:lnTo>
                    <a:pt x="2124075" y="685800"/>
                  </a:lnTo>
                  <a:lnTo>
                    <a:pt x="0" y="685800"/>
                  </a:lnTo>
                  <a:lnTo>
                    <a:pt x="0" y="695325"/>
                  </a:lnTo>
                  <a:lnTo>
                    <a:pt x="2124075" y="695325"/>
                  </a:lnTo>
                  <a:lnTo>
                    <a:pt x="3533775" y="695325"/>
                  </a:lnTo>
                  <a:lnTo>
                    <a:pt x="4943475" y="695325"/>
                  </a:lnTo>
                  <a:lnTo>
                    <a:pt x="4943475" y="685800"/>
                  </a:lnTo>
                  <a:close/>
                </a:path>
                <a:path extrusionOk="0" h="695325" w="4943475">
                  <a:moveTo>
                    <a:pt x="4943475" y="342900"/>
                  </a:moveTo>
                  <a:lnTo>
                    <a:pt x="3533775" y="342900"/>
                  </a:lnTo>
                  <a:lnTo>
                    <a:pt x="2124075" y="342900"/>
                  </a:lnTo>
                  <a:lnTo>
                    <a:pt x="0" y="342900"/>
                  </a:lnTo>
                  <a:lnTo>
                    <a:pt x="0" y="352425"/>
                  </a:lnTo>
                  <a:lnTo>
                    <a:pt x="2124075" y="352425"/>
                  </a:lnTo>
                  <a:lnTo>
                    <a:pt x="3533775" y="352425"/>
                  </a:lnTo>
                  <a:lnTo>
                    <a:pt x="4943475" y="352425"/>
                  </a:lnTo>
                  <a:lnTo>
                    <a:pt x="4943475" y="342900"/>
                  </a:lnTo>
                  <a:close/>
                </a:path>
                <a:path extrusionOk="0" h="695325" w="4943475">
                  <a:moveTo>
                    <a:pt x="4943475" y="0"/>
                  </a:moveTo>
                  <a:lnTo>
                    <a:pt x="3533775" y="0"/>
                  </a:lnTo>
                  <a:lnTo>
                    <a:pt x="21240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2124075" y="9525"/>
                  </a:lnTo>
                  <a:lnTo>
                    <a:pt x="3533775" y="9525"/>
                  </a:lnTo>
                  <a:lnTo>
                    <a:pt x="4943475" y="9525"/>
                  </a:lnTo>
                  <a:lnTo>
                    <a:pt x="4943475" y="0"/>
                  </a:lnTo>
                  <a:close/>
                </a:path>
              </a:pathLst>
            </a:custGeom>
            <a:solidFill>
              <a:srgbClr val="0E2941">
                <a:alpha val="2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0"/>
            <p:cNvSpPr/>
            <p:nvPr/>
          </p:nvSpPr>
          <p:spPr>
            <a:xfrm>
              <a:off x="6477000" y="4143375"/>
              <a:ext cx="38100" cy="1380244"/>
            </a:xfrm>
            <a:custGeom>
              <a:rect b="b" l="l" r="r" t="t"/>
              <a:pathLst>
                <a:path extrusionOk="0" h="1323975" w="38100">
                  <a:moveTo>
                    <a:pt x="38100" y="0"/>
                  </a:moveTo>
                  <a:lnTo>
                    <a:pt x="0" y="0"/>
                  </a:lnTo>
                  <a:lnTo>
                    <a:pt x="0" y="1323975"/>
                  </a:lnTo>
                  <a:lnTo>
                    <a:pt x="38100" y="132397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572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5" name="Google Shape;16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67500" y="1885949"/>
              <a:ext cx="209550" cy="18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0"/>
            <p:cNvSpPr/>
            <p:nvPr/>
          </p:nvSpPr>
          <p:spPr>
            <a:xfrm>
              <a:off x="104775" y="104774"/>
              <a:ext cx="11982450" cy="6705600"/>
            </a:xfrm>
            <a:custGeom>
              <a:rect b="b" l="l" r="r" t="t"/>
              <a:pathLst>
                <a:path extrusionOk="0" h="6705600" w="11982450">
                  <a:moveTo>
                    <a:pt x="190500" y="6610350"/>
                  </a:moveTo>
                  <a:lnTo>
                    <a:pt x="104775" y="6610350"/>
                  </a:lnTo>
                  <a:lnTo>
                    <a:pt x="104775" y="6515100"/>
                  </a:lnTo>
                  <a:lnTo>
                    <a:pt x="95250" y="6515100"/>
                  </a:lnTo>
                  <a:lnTo>
                    <a:pt x="95250" y="6610350"/>
                  </a:lnTo>
                  <a:lnTo>
                    <a:pt x="0" y="6610350"/>
                  </a:lnTo>
                  <a:lnTo>
                    <a:pt x="0" y="6619875"/>
                  </a:lnTo>
                  <a:lnTo>
                    <a:pt x="95250" y="6619875"/>
                  </a:lnTo>
                  <a:lnTo>
                    <a:pt x="95250" y="6705600"/>
                  </a:lnTo>
                  <a:lnTo>
                    <a:pt x="104775" y="6705600"/>
                  </a:lnTo>
                  <a:lnTo>
                    <a:pt x="104775" y="6619875"/>
                  </a:lnTo>
                  <a:lnTo>
                    <a:pt x="190500" y="6619875"/>
                  </a:lnTo>
                  <a:lnTo>
                    <a:pt x="190500" y="6610350"/>
                  </a:lnTo>
                  <a:close/>
                </a:path>
                <a:path extrusionOk="0" h="6705600" w="11982450">
                  <a:moveTo>
                    <a:pt x="190500" y="95250"/>
                  </a:moveTo>
                  <a:lnTo>
                    <a:pt x="104775" y="95250"/>
                  </a:lnTo>
                  <a:lnTo>
                    <a:pt x="104775" y="0"/>
                  </a:lnTo>
                  <a:lnTo>
                    <a:pt x="95250" y="0"/>
                  </a:lnTo>
                  <a:lnTo>
                    <a:pt x="95250" y="95250"/>
                  </a:lnTo>
                  <a:lnTo>
                    <a:pt x="0" y="95250"/>
                  </a:lnTo>
                  <a:lnTo>
                    <a:pt x="0" y="104775"/>
                  </a:lnTo>
                  <a:lnTo>
                    <a:pt x="95250" y="104775"/>
                  </a:lnTo>
                  <a:lnTo>
                    <a:pt x="95250" y="190512"/>
                  </a:lnTo>
                  <a:lnTo>
                    <a:pt x="104775" y="190512"/>
                  </a:lnTo>
                  <a:lnTo>
                    <a:pt x="104775" y="104775"/>
                  </a:lnTo>
                  <a:lnTo>
                    <a:pt x="190500" y="104775"/>
                  </a:lnTo>
                  <a:lnTo>
                    <a:pt x="190500" y="95250"/>
                  </a:lnTo>
                  <a:close/>
                </a:path>
                <a:path extrusionOk="0" h="6705600" w="11982450">
                  <a:moveTo>
                    <a:pt x="11982450" y="6610350"/>
                  </a:moveTo>
                  <a:lnTo>
                    <a:pt x="11896725" y="6610350"/>
                  </a:lnTo>
                  <a:lnTo>
                    <a:pt x="11896725" y="6515100"/>
                  </a:lnTo>
                  <a:lnTo>
                    <a:pt x="11887200" y="6515100"/>
                  </a:lnTo>
                  <a:lnTo>
                    <a:pt x="11887200" y="6429375"/>
                  </a:lnTo>
                  <a:lnTo>
                    <a:pt x="11849100" y="6429375"/>
                  </a:lnTo>
                  <a:lnTo>
                    <a:pt x="11849100" y="6610350"/>
                  </a:lnTo>
                  <a:lnTo>
                    <a:pt x="11791950" y="6610350"/>
                  </a:lnTo>
                  <a:lnTo>
                    <a:pt x="11791950" y="6619875"/>
                  </a:lnTo>
                  <a:lnTo>
                    <a:pt x="11887200" y="6619875"/>
                  </a:lnTo>
                  <a:lnTo>
                    <a:pt x="11887200" y="6705600"/>
                  </a:lnTo>
                  <a:lnTo>
                    <a:pt x="11896725" y="6705600"/>
                  </a:lnTo>
                  <a:lnTo>
                    <a:pt x="11896725" y="6619875"/>
                  </a:lnTo>
                  <a:lnTo>
                    <a:pt x="11982450" y="6619875"/>
                  </a:lnTo>
                  <a:lnTo>
                    <a:pt x="11982450" y="6610350"/>
                  </a:lnTo>
                  <a:close/>
                </a:path>
                <a:path extrusionOk="0" h="6705600" w="11982450">
                  <a:moveTo>
                    <a:pt x="11982450" y="95250"/>
                  </a:moveTo>
                  <a:lnTo>
                    <a:pt x="11896725" y="95250"/>
                  </a:lnTo>
                  <a:lnTo>
                    <a:pt x="11896725" y="0"/>
                  </a:lnTo>
                  <a:lnTo>
                    <a:pt x="11887200" y="0"/>
                  </a:lnTo>
                  <a:lnTo>
                    <a:pt x="11887200" y="95250"/>
                  </a:lnTo>
                  <a:lnTo>
                    <a:pt x="11791950" y="95250"/>
                  </a:lnTo>
                  <a:lnTo>
                    <a:pt x="11791950" y="104775"/>
                  </a:lnTo>
                  <a:lnTo>
                    <a:pt x="11887200" y="104775"/>
                  </a:lnTo>
                  <a:lnTo>
                    <a:pt x="11887200" y="190512"/>
                  </a:lnTo>
                  <a:lnTo>
                    <a:pt x="11896725" y="190512"/>
                  </a:lnTo>
                  <a:lnTo>
                    <a:pt x="11896725" y="104775"/>
                  </a:lnTo>
                  <a:lnTo>
                    <a:pt x="11982450" y="104775"/>
                  </a:lnTo>
                  <a:lnTo>
                    <a:pt x="11982450" y="95250"/>
                  </a:lnTo>
                  <a:close/>
                </a:path>
              </a:pathLst>
            </a:custGeom>
            <a:solidFill>
              <a:srgbClr val="FF572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10"/>
          <p:cNvSpPr txBox="1"/>
          <p:nvPr/>
        </p:nvSpPr>
        <p:spPr>
          <a:xfrm>
            <a:off x="571500" y="1571625"/>
            <a:ext cx="4953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5721"/>
                </a:solidFill>
                <a:latin typeface="Tahoma"/>
                <a:ea typeface="Tahoma"/>
                <a:cs typeface="Tahoma"/>
                <a:sym typeface="Tahoma"/>
              </a:rPr>
              <a:t>DUAL-STAGE PIPELINE</a:t>
            </a:r>
            <a:endParaRPr b="1" sz="1600">
              <a:solidFill>
                <a:srgbClr val="FF572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" name="Google Shape;168;p10"/>
          <p:cNvSpPr txBox="1"/>
          <p:nvPr>
            <p:ph idx="11" type="ftr"/>
          </p:nvPr>
        </p:nvSpPr>
        <p:spPr>
          <a:xfrm>
            <a:off x="10725696" y="6455099"/>
            <a:ext cx="11454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DONE BY TEAM C</a:t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585787" y="2347912"/>
            <a:ext cx="4924500" cy="1416000"/>
          </a:xfrm>
          <a:prstGeom prst="rect">
            <a:avLst/>
          </a:prstGeom>
          <a:solidFill>
            <a:srgbClr val="0E2941">
              <a:alpha val="5098"/>
            </a:srgbClr>
          </a:solidFill>
          <a:ln cap="flat" cmpd="sng" w="9525">
            <a:solidFill>
              <a:srgbClr val="0E29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49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Binary Failure Detection</a:t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4945" marR="789305" rtl="0" algn="l">
              <a:lnSpc>
                <a:spcPct val="117200"/>
              </a:lnSpc>
              <a:spcBef>
                <a:spcPts val="38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Real-time evaluation of sensor telemetry to predict if a machine failure is imminent (Probability ≥ 0.5).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585787" y="4129089"/>
            <a:ext cx="4924500" cy="1416000"/>
          </a:xfrm>
          <a:prstGeom prst="rect">
            <a:avLst/>
          </a:prstGeom>
          <a:solidFill>
            <a:srgbClr val="0E2941">
              <a:alpha val="5098"/>
            </a:srgbClr>
          </a:solidFill>
          <a:ln cap="flat" cmpd="sng" w="9525">
            <a:solidFill>
              <a:srgbClr val="0E29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49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Multi-Mode Diagnostics</a:t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4945" marR="240665" rtl="0" algn="l">
              <a:lnSpc>
                <a:spcPct val="117200"/>
              </a:lnSpc>
              <a:spcBef>
                <a:spcPts val="38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Secondary classification to identify specific failure modes: Tool Wear (TWF), Heat (HDF), Power (PWF), or Overstrain (OSF).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71" name="Google Shape;171;p10"/>
          <p:cNvGraphicFramePr/>
          <p:nvPr/>
        </p:nvGraphicFramePr>
        <p:xfrm>
          <a:off x="6667500" y="23383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{85B1172B-2C03-4673-9C3A-715972099FBB}</a:tableStyleId>
              </a:tblPr>
              <a:tblGrid>
                <a:gridCol w="756275"/>
                <a:gridCol w="833125"/>
                <a:gridCol w="1635125"/>
                <a:gridCol w="1720225"/>
              </a:tblGrid>
              <a:tr h="33337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0F4F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</a:t>
                      </a:r>
                      <a:endParaRPr sz="10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0" marR="0" marL="0">
                    <a:solidFill>
                      <a:srgbClr val="0E29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0E29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89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0F4F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Accuracy</a:t>
                      </a:r>
                      <a:endParaRPr sz="10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0" marR="0" marL="0">
                    <a:solidFill>
                      <a:srgbClr val="0E29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48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0F4F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F1-Score</a:t>
                      </a:r>
                      <a:endParaRPr sz="10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0" marR="0" marL="0">
                    <a:solidFill>
                      <a:srgbClr val="0E2941"/>
                    </a:solidFill>
                  </a:tcPr>
                </a:tc>
              </a:tr>
              <a:tr h="33782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E294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LightGBM</a:t>
                      </a:r>
                      <a:endParaRPr sz="10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0" marR="0" marL="0">
                    <a:lnB cap="flat" cmpd="sng" w="9525">
                      <a:solidFill>
                        <a:srgbClr val="0E294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5721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937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0E294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@</a:t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0E294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5721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089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E294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98.90%</a:t>
                      </a:r>
                      <a:endParaRPr sz="10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0" marR="0" marL="0">
                    <a:lnB cap="flat" cmpd="sng" w="9525">
                      <a:solidFill>
                        <a:srgbClr val="0E294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5721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848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E294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81.97%</a:t>
                      </a:r>
                      <a:endParaRPr sz="10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00" marB="0" marR="0" marL="0">
                    <a:lnB cap="flat" cmpd="sng" w="9525">
                      <a:solidFill>
                        <a:srgbClr val="0E294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5721">
                        <a:alpha val="10196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72" name="Google Shape;172;p10"/>
          <p:cNvSpPr txBox="1"/>
          <p:nvPr/>
        </p:nvSpPr>
        <p:spPr>
          <a:xfrm>
            <a:off x="6477000" y="1571625"/>
            <a:ext cx="51435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5721"/>
                </a:solidFill>
                <a:latin typeface="Tahoma"/>
                <a:ea typeface="Tahoma"/>
                <a:cs typeface="Tahoma"/>
                <a:sym typeface="Tahoma"/>
              </a:rPr>
              <a:t>MODEL BENCHMARKS</a:t>
            </a:r>
            <a:endParaRPr b="1" sz="1600">
              <a:solidFill>
                <a:srgbClr val="FF572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6619875" y="4143375"/>
            <a:ext cx="5000700" cy="9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Transparent AI (SHAP)</a:t>
            </a:r>
            <a:endParaRPr b="1" sz="1350">
              <a:solidFill>
                <a:srgbClr val="0E294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Utilizes Shapley Additive Explanations to provide granular feature contribution analysis. Engineers see exactly which sensor readings (e.g., Torque +32%) triggered the alert.</a:t>
            </a:r>
            <a:endParaRPr b="0" sz="1150">
              <a:solidFill>
                <a:srgbClr val="0E294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78" name="Google Shape;178;p11"/>
          <p:cNvSpPr txBox="1"/>
          <p:nvPr>
            <p:ph type="title"/>
          </p:nvPr>
        </p:nvSpPr>
        <p:spPr>
          <a:xfrm>
            <a:off x="568325" y="558799"/>
            <a:ext cx="932624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STRATEGIC ADVANTAGES s GROWTH</a:t>
            </a:r>
            <a:endParaRPr/>
          </a:p>
        </p:txBody>
      </p:sp>
      <p:grpSp>
        <p:nvGrpSpPr>
          <p:cNvPr id="179" name="Google Shape;179;p11"/>
          <p:cNvGrpSpPr/>
          <p:nvPr/>
        </p:nvGrpSpPr>
        <p:grpSpPr>
          <a:xfrm>
            <a:off x="581025" y="1476387"/>
            <a:ext cx="6361112" cy="5429250"/>
            <a:chOff x="581025" y="1476387"/>
            <a:chExt cx="6361112" cy="5429250"/>
          </a:xfrm>
        </p:grpSpPr>
        <p:sp>
          <p:nvSpPr>
            <p:cNvPr id="180" name="Google Shape;180;p11"/>
            <p:cNvSpPr/>
            <p:nvPr/>
          </p:nvSpPr>
          <p:spPr>
            <a:xfrm>
              <a:off x="581025" y="1476387"/>
              <a:ext cx="5524500" cy="5429250"/>
            </a:xfrm>
            <a:custGeom>
              <a:rect b="b" l="l" r="r" t="t"/>
              <a:pathLst>
                <a:path extrusionOk="0" h="5429250" w="5524500">
                  <a:moveTo>
                    <a:pt x="38100" y="2790812"/>
                  </a:moveTo>
                  <a:lnTo>
                    <a:pt x="0" y="2790812"/>
                  </a:lnTo>
                  <a:lnTo>
                    <a:pt x="0" y="3047987"/>
                  </a:lnTo>
                  <a:lnTo>
                    <a:pt x="38100" y="3047987"/>
                  </a:lnTo>
                  <a:lnTo>
                    <a:pt x="38100" y="2790812"/>
                  </a:lnTo>
                  <a:close/>
                </a:path>
                <a:path extrusionOk="0" h="5429250" w="5524500">
                  <a:moveTo>
                    <a:pt x="38100" y="1228712"/>
                  </a:moveTo>
                  <a:lnTo>
                    <a:pt x="0" y="1228712"/>
                  </a:lnTo>
                  <a:lnTo>
                    <a:pt x="0" y="1485887"/>
                  </a:lnTo>
                  <a:lnTo>
                    <a:pt x="38100" y="1485887"/>
                  </a:lnTo>
                  <a:lnTo>
                    <a:pt x="38100" y="1228712"/>
                  </a:lnTo>
                  <a:close/>
                </a:path>
                <a:path extrusionOk="0" h="5429250" w="5524500">
                  <a:moveTo>
                    <a:pt x="5524500" y="0"/>
                  </a:moveTo>
                  <a:lnTo>
                    <a:pt x="5514975" y="0"/>
                  </a:lnTo>
                  <a:lnTo>
                    <a:pt x="5514975" y="5429250"/>
                  </a:lnTo>
                  <a:lnTo>
                    <a:pt x="5524500" y="5429250"/>
                  </a:lnTo>
                  <a:lnTo>
                    <a:pt x="5524500" y="0"/>
                  </a:lnTo>
                  <a:close/>
                </a:path>
              </a:pathLst>
            </a:custGeom>
            <a:solidFill>
              <a:srgbClr val="0E294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1" name="Google Shape;181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87374" y="1879599"/>
              <a:ext cx="254000" cy="269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69087" y="1879599"/>
              <a:ext cx="273050" cy="269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1"/>
          <p:cNvSpPr txBox="1"/>
          <p:nvPr/>
        </p:nvSpPr>
        <p:spPr>
          <a:xfrm>
            <a:off x="749300" y="2701924"/>
            <a:ext cx="21971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5721"/>
                </a:solidFill>
                <a:latin typeface="Courier New"/>
                <a:ea typeface="Courier New"/>
                <a:cs typeface="Courier New"/>
                <a:sym typeface="Courier New"/>
              </a:rPr>
              <a:t>ACTIONABLE INSIGHTS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568325" y="3010534"/>
            <a:ext cx="4883150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5080" rtl="0" algn="l">
              <a:lnSpc>
                <a:spcPct val="1282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Beyond simple alerts, the system generates specific maintenance directives based on the classified failure mode, drastically reducing Mean Time to Repair (MTTR).</a:t>
            </a:r>
            <a:endParaRPr sz="12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749300" y="4264025"/>
            <a:ext cx="18542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5721"/>
                </a:solidFill>
                <a:latin typeface="Courier New"/>
                <a:ea typeface="Courier New"/>
                <a:cs typeface="Courier New"/>
                <a:sym typeface="Courier New"/>
              </a:rPr>
              <a:t>HIGH SCALABILITY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568325" y="4572634"/>
            <a:ext cx="4688840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5080" rtl="0" algn="l">
              <a:lnSpc>
                <a:spcPct val="127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The decoupled micro-services architecture allows for horizontal scaling of inference engines and seamless integration of new industrial assets.</a:t>
            </a:r>
            <a:endParaRPr sz="12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568325" y="1225549"/>
            <a:ext cx="9063990" cy="95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5721"/>
                </a:solidFill>
                <a:latin typeface="Courier New"/>
                <a:ea typeface="Courier New"/>
                <a:cs typeface="Courier New"/>
                <a:sym typeface="Courier New"/>
              </a:rPr>
              <a:t>// BENEFITS AND ROADMAP</a:t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222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E2941"/>
                </a:solidFill>
                <a:latin typeface="Tahoma"/>
                <a:ea typeface="Tahoma"/>
                <a:cs typeface="Tahoma"/>
                <a:sym typeface="Tahoma"/>
              </a:rPr>
              <a:t>CORE ADVANTAGES	FUTURE ROADMAP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6677025" y="2752724"/>
            <a:ext cx="381000" cy="381000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txBody>
          <a:bodyPr anchorCtr="0" anchor="t" bIns="0" lIns="0" spcFirstLastPara="1" rIns="0" wrap="square" tIns="95250">
            <a:spAutoFit/>
          </a:bodyPr>
          <a:lstStyle/>
          <a:p>
            <a:pPr indent="0" lvl="0" marL="93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0F4F8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89" name="Google Shape;189;p11"/>
          <p:cNvGrpSpPr/>
          <p:nvPr/>
        </p:nvGrpSpPr>
        <p:grpSpPr>
          <a:xfrm>
            <a:off x="104775" y="104774"/>
            <a:ext cx="11982450" cy="6705600"/>
            <a:chOff x="104775" y="104774"/>
            <a:chExt cx="11982450" cy="6705600"/>
          </a:xfrm>
        </p:grpSpPr>
        <p:sp>
          <p:nvSpPr>
            <p:cNvPr id="190" name="Google Shape;190;p11"/>
            <p:cNvSpPr/>
            <p:nvPr/>
          </p:nvSpPr>
          <p:spPr>
            <a:xfrm>
              <a:off x="7248525" y="2752724"/>
              <a:ext cx="38100" cy="1628775"/>
            </a:xfrm>
            <a:custGeom>
              <a:rect b="b" l="l" r="r" t="t"/>
              <a:pathLst>
                <a:path extrusionOk="0" h="1628775" w="38100">
                  <a:moveTo>
                    <a:pt x="38100" y="1371600"/>
                  </a:moveTo>
                  <a:lnTo>
                    <a:pt x="0" y="1371600"/>
                  </a:lnTo>
                  <a:lnTo>
                    <a:pt x="0" y="1628775"/>
                  </a:lnTo>
                  <a:lnTo>
                    <a:pt x="38100" y="1628775"/>
                  </a:lnTo>
                  <a:lnTo>
                    <a:pt x="38100" y="1371600"/>
                  </a:lnTo>
                  <a:close/>
                </a:path>
                <a:path extrusionOk="0" h="1628775" w="38100">
                  <a:moveTo>
                    <a:pt x="38100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38100" y="25717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E294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104775" y="104774"/>
              <a:ext cx="11982450" cy="6705600"/>
            </a:xfrm>
            <a:custGeom>
              <a:rect b="b" l="l" r="r" t="t"/>
              <a:pathLst>
                <a:path extrusionOk="0" h="6705600" w="11982450">
                  <a:moveTo>
                    <a:pt x="190500" y="6610350"/>
                  </a:moveTo>
                  <a:lnTo>
                    <a:pt x="104775" y="6610350"/>
                  </a:lnTo>
                  <a:lnTo>
                    <a:pt x="104775" y="6515100"/>
                  </a:lnTo>
                  <a:lnTo>
                    <a:pt x="95250" y="6515100"/>
                  </a:lnTo>
                  <a:lnTo>
                    <a:pt x="95250" y="6610350"/>
                  </a:lnTo>
                  <a:lnTo>
                    <a:pt x="0" y="6610350"/>
                  </a:lnTo>
                  <a:lnTo>
                    <a:pt x="0" y="6619875"/>
                  </a:lnTo>
                  <a:lnTo>
                    <a:pt x="95250" y="6619875"/>
                  </a:lnTo>
                  <a:lnTo>
                    <a:pt x="95250" y="6705600"/>
                  </a:lnTo>
                  <a:lnTo>
                    <a:pt x="104775" y="6705600"/>
                  </a:lnTo>
                  <a:lnTo>
                    <a:pt x="104775" y="6619875"/>
                  </a:lnTo>
                  <a:lnTo>
                    <a:pt x="190500" y="6619875"/>
                  </a:lnTo>
                  <a:lnTo>
                    <a:pt x="190500" y="6610350"/>
                  </a:lnTo>
                  <a:close/>
                </a:path>
                <a:path extrusionOk="0" h="6705600" w="11982450">
                  <a:moveTo>
                    <a:pt x="190500" y="95250"/>
                  </a:moveTo>
                  <a:lnTo>
                    <a:pt x="104775" y="95250"/>
                  </a:lnTo>
                  <a:lnTo>
                    <a:pt x="104775" y="0"/>
                  </a:lnTo>
                  <a:lnTo>
                    <a:pt x="95250" y="0"/>
                  </a:lnTo>
                  <a:lnTo>
                    <a:pt x="95250" y="95250"/>
                  </a:lnTo>
                  <a:lnTo>
                    <a:pt x="0" y="95250"/>
                  </a:lnTo>
                  <a:lnTo>
                    <a:pt x="0" y="104775"/>
                  </a:lnTo>
                  <a:lnTo>
                    <a:pt x="95250" y="104775"/>
                  </a:lnTo>
                  <a:lnTo>
                    <a:pt x="95250" y="190512"/>
                  </a:lnTo>
                  <a:lnTo>
                    <a:pt x="104775" y="190512"/>
                  </a:lnTo>
                  <a:lnTo>
                    <a:pt x="104775" y="104775"/>
                  </a:lnTo>
                  <a:lnTo>
                    <a:pt x="190500" y="104775"/>
                  </a:lnTo>
                  <a:lnTo>
                    <a:pt x="190500" y="95250"/>
                  </a:lnTo>
                  <a:close/>
                </a:path>
                <a:path extrusionOk="0" h="6705600" w="11982450">
                  <a:moveTo>
                    <a:pt x="11982450" y="6610350"/>
                  </a:moveTo>
                  <a:lnTo>
                    <a:pt x="11896725" y="6610350"/>
                  </a:lnTo>
                  <a:lnTo>
                    <a:pt x="11896725" y="6515100"/>
                  </a:lnTo>
                  <a:lnTo>
                    <a:pt x="11887200" y="6515100"/>
                  </a:lnTo>
                  <a:lnTo>
                    <a:pt x="11887200" y="6429375"/>
                  </a:lnTo>
                  <a:lnTo>
                    <a:pt x="11849100" y="6429375"/>
                  </a:lnTo>
                  <a:lnTo>
                    <a:pt x="11849100" y="6610350"/>
                  </a:lnTo>
                  <a:lnTo>
                    <a:pt x="11791950" y="6610350"/>
                  </a:lnTo>
                  <a:lnTo>
                    <a:pt x="11791950" y="6619875"/>
                  </a:lnTo>
                  <a:lnTo>
                    <a:pt x="11887200" y="6619875"/>
                  </a:lnTo>
                  <a:lnTo>
                    <a:pt x="11887200" y="6705600"/>
                  </a:lnTo>
                  <a:lnTo>
                    <a:pt x="11896725" y="6705600"/>
                  </a:lnTo>
                  <a:lnTo>
                    <a:pt x="11896725" y="6619875"/>
                  </a:lnTo>
                  <a:lnTo>
                    <a:pt x="11982450" y="6619875"/>
                  </a:lnTo>
                  <a:lnTo>
                    <a:pt x="11982450" y="6610350"/>
                  </a:lnTo>
                  <a:close/>
                </a:path>
                <a:path extrusionOk="0" h="6705600" w="11982450">
                  <a:moveTo>
                    <a:pt x="11982450" y="95250"/>
                  </a:moveTo>
                  <a:lnTo>
                    <a:pt x="11896725" y="95250"/>
                  </a:lnTo>
                  <a:lnTo>
                    <a:pt x="11896725" y="0"/>
                  </a:lnTo>
                  <a:lnTo>
                    <a:pt x="11887200" y="0"/>
                  </a:lnTo>
                  <a:lnTo>
                    <a:pt x="11887200" y="95250"/>
                  </a:lnTo>
                  <a:lnTo>
                    <a:pt x="11791950" y="95250"/>
                  </a:lnTo>
                  <a:lnTo>
                    <a:pt x="11791950" y="104775"/>
                  </a:lnTo>
                  <a:lnTo>
                    <a:pt x="11887200" y="104775"/>
                  </a:lnTo>
                  <a:lnTo>
                    <a:pt x="11887200" y="190512"/>
                  </a:lnTo>
                  <a:lnTo>
                    <a:pt x="11896725" y="190512"/>
                  </a:lnTo>
                  <a:lnTo>
                    <a:pt x="11896725" y="104775"/>
                  </a:lnTo>
                  <a:lnTo>
                    <a:pt x="11982450" y="104775"/>
                  </a:lnTo>
                  <a:lnTo>
                    <a:pt x="11982450" y="95250"/>
                  </a:lnTo>
                  <a:close/>
                </a:path>
              </a:pathLst>
            </a:custGeom>
            <a:solidFill>
              <a:srgbClr val="FF572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" name="Google Shape;192;p11"/>
          <p:cNvSpPr txBox="1"/>
          <p:nvPr/>
        </p:nvSpPr>
        <p:spPr>
          <a:xfrm>
            <a:off x="7412037" y="2749549"/>
            <a:ext cx="1625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5721"/>
                </a:solidFill>
                <a:latin typeface="Courier New"/>
                <a:ea typeface="Courier New"/>
                <a:cs typeface="Courier New"/>
                <a:sym typeface="Courier New"/>
              </a:rPr>
              <a:t>RUL PREDICTION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3" name="Google Shape;193;p11"/>
          <p:cNvSpPr txBox="1"/>
          <p:nvPr>
            <p:ph idx="11" type="ftr"/>
          </p:nvPr>
        </p:nvSpPr>
        <p:spPr>
          <a:xfrm>
            <a:off x="10725696" y="6455099"/>
            <a:ext cx="1145540" cy="264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DONE BY TEAM C</a:t>
            </a:r>
            <a:endParaRPr/>
          </a:p>
        </p:txBody>
      </p:sp>
      <p:sp>
        <p:nvSpPr>
          <p:cNvPr id="194" name="Google Shape;194;p11"/>
          <p:cNvSpPr txBox="1"/>
          <p:nvPr/>
        </p:nvSpPr>
        <p:spPr>
          <a:xfrm>
            <a:off x="7231062" y="3058159"/>
            <a:ext cx="4300220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5080" rtl="0" algn="l">
              <a:lnSpc>
                <a:spcPct val="127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Implementing LSTM-based regression models to estimate Remaining Useful Life in operational hours for precision scheduling.</a:t>
            </a:r>
            <a:endParaRPr sz="12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6677025" y="4124324"/>
            <a:ext cx="381000" cy="381000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txBody>
          <a:bodyPr anchorCtr="0" anchor="t" bIns="0" lIns="0" spcFirstLastPara="1" rIns="0" wrap="square" tIns="95250">
            <a:spAutoFit/>
          </a:bodyPr>
          <a:lstStyle/>
          <a:p>
            <a:pPr indent="0" lvl="0" marL="93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0F4F8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7412037" y="4121150"/>
            <a:ext cx="15113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5721"/>
                </a:solidFill>
                <a:latin typeface="Courier New"/>
                <a:ea typeface="Courier New"/>
                <a:cs typeface="Courier New"/>
                <a:sym typeface="Courier New"/>
              </a:rPr>
              <a:t>IOT INGESTION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7" name="Google Shape;197;p11"/>
          <p:cNvSpPr txBox="1"/>
          <p:nvPr/>
        </p:nvSpPr>
        <p:spPr>
          <a:xfrm>
            <a:off x="7231062" y="4439284"/>
            <a:ext cx="3911600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5080" rtl="0" algn="l">
              <a:lnSpc>
                <a:spcPct val="127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Expanding to real-time MQTT protocol adapters for direct, low-latency stream ingestion from industrial edge gateways.</a:t>
            </a:r>
            <a:endParaRPr sz="125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/>
          <p:nvPr/>
        </p:nvSpPr>
        <p:spPr>
          <a:xfrm>
            <a:off x="0" y="6810375"/>
            <a:ext cx="12192000" cy="47625"/>
          </a:xfrm>
          <a:custGeom>
            <a:rect b="b" l="l" r="r" t="t"/>
            <a:pathLst>
              <a:path extrusionOk="0" h="47625" w="12192000">
                <a:moveTo>
                  <a:pt x="0" y="47625"/>
                </a:moveTo>
                <a:lnTo>
                  <a:pt x="12192000" y="47625"/>
                </a:lnTo>
                <a:lnTo>
                  <a:pt x="12192000" y="0"/>
                </a:lnTo>
                <a:lnTo>
                  <a:pt x="0" y="0"/>
                </a:lnTo>
                <a:lnTo>
                  <a:pt x="0" y="47625"/>
                </a:lnTo>
                <a:close/>
              </a:path>
            </a:pathLst>
          </a:custGeom>
          <a:solidFill>
            <a:srgbClr val="F0F4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" name="Google Shape;203;p12"/>
          <p:cNvGrpSpPr/>
          <p:nvPr/>
        </p:nvGrpSpPr>
        <p:grpSpPr>
          <a:xfrm>
            <a:off x="0" y="0"/>
            <a:ext cx="12192000" cy="6853237"/>
            <a:chOff x="0" y="0"/>
            <a:chExt cx="12192000" cy="6853237"/>
          </a:xfrm>
        </p:grpSpPr>
        <p:sp>
          <p:nvSpPr>
            <p:cNvPr id="204" name="Google Shape;204;p12"/>
            <p:cNvSpPr/>
            <p:nvPr/>
          </p:nvSpPr>
          <p:spPr>
            <a:xfrm>
              <a:off x="0" y="0"/>
              <a:ext cx="12192000" cy="5095875"/>
            </a:xfrm>
            <a:custGeom>
              <a:rect b="b" l="l" r="r" t="t"/>
              <a:pathLst>
                <a:path extrusionOk="0" h="5095875" w="12192000">
                  <a:moveTo>
                    <a:pt x="0" y="5095875"/>
                  </a:moveTo>
                  <a:lnTo>
                    <a:pt x="12192000" y="509587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095875"/>
                  </a:lnTo>
                  <a:close/>
                </a:path>
              </a:pathLst>
            </a:custGeom>
            <a:solidFill>
              <a:srgbClr val="F0F4F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4762" y="4762"/>
              <a:ext cx="12182475" cy="6848475"/>
            </a:xfrm>
            <a:custGeom>
              <a:rect b="b" l="l" r="r" t="t"/>
              <a:pathLst>
                <a:path extrusionOk="0" h="6848475" w="12182475">
                  <a:moveTo>
                    <a:pt x="0" y="6848475"/>
                  </a:moveTo>
                  <a:lnTo>
                    <a:pt x="12182475" y="6848475"/>
                  </a:lnTo>
                  <a:lnTo>
                    <a:pt x="12182475" y="0"/>
                  </a:lnTo>
                  <a:lnTo>
                    <a:pt x="0" y="0"/>
                  </a:lnTo>
                  <a:lnTo>
                    <a:pt x="0" y="6848475"/>
                  </a:lnTo>
                  <a:close/>
                </a:path>
              </a:pathLst>
            </a:custGeom>
            <a:noFill/>
            <a:ln cap="flat" cmpd="sng" w="9525">
              <a:solidFill>
                <a:srgbClr val="0E294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9525" y="1466849"/>
              <a:ext cx="12172950" cy="5343525"/>
            </a:xfrm>
            <a:custGeom>
              <a:rect b="b" l="l" r="r" t="t"/>
              <a:pathLst>
                <a:path extrusionOk="0" h="5343525" w="12172950">
                  <a:moveTo>
                    <a:pt x="12172950" y="3619500"/>
                  </a:moveTo>
                  <a:lnTo>
                    <a:pt x="0" y="3619500"/>
                  </a:lnTo>
                  <a:lnTo>
                    <a:pt x="0" y="3629025"/>
                  </a:lnTo>
                  <a:lnTo>
                    <a:pt x="0" y="5343525"/>
                  </a:lnTo>
                  <a:lnTo>
                    <a:pt x="12172950" y="5343525"/>
                  </a:lnTo>
                  <a:lnTo>
                    <a:pt x="12172950" y="3629025"/>
                  </a:lnTo>
                  <a:lnTo>
                    <a:pt x="12172950" y="3619500"/>
                  </a:lnTo>
                  <a:close/>
                </a:path>
                <a:path extrusionOk="0" h="5343525" w="12172950">
                  <a:moveTo>
                    <a:pt x="1217295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2172950" y="9525"/>
                  </a:lnTo>
                  <a:lnTo>
                    <a:pt x="12172950" y="0"/>
                  </a:lnTo>
                  <a:close/>
                </a:path>
              </a:pathLst>
            </a:custGeom>
            <a:solidFill>
              <a:srgbClr val="0E294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207" name="Google Shape;207;p12"/>
          <p:cNvSpPr txBox="1"/>
          <p:nvPr>
            <p:ph type="title"/>
          </p:nvPr>
        </p:nvSpPr>
        <p:spPr>
          <a:xfrm>
            <a:off x="568325" y="558799"/>
            <a:ext cx="932624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CHALLENGES s PROJECT CONCLUSION</a:t>
            </a:r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568325" y="1225550"/>
            <a:ext cx="4037329" cy="231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5721"/>
                </a:solidFill>
                <a:latin typeface="Courier New"/>
                <a:ea typeface="Courier New"/>
                <a:cs typeface="Courier New"/>
                <a:sym typeface="Courier New"/>
              </a:rPr>
              <a:t>// OVERCOMING OBSTACLES &amp; FINAL SUMMARY</a:t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09" name="Google Shape;209;p12"/>
          <p:cNvGrpSpPr/>
          <p:nvPr/>
        </p:nvGrpSpPr>
        <p:grpSpPr>
          <a:xfrm>
            <a:off x="390525" y="1476374"/>
            <a:ext cx="3676650" cy="3609975"/>
            <a:chOff x="390525" y="1476374"/>
            <a:chExt cx="3676650" cy="3609975"/>
          </a:xfrm>
        </p:grpSpPr>
        <p:sp>
          <p:nvSpPr>
            <p:cNvPr id="210" name="Google Shape;210;p12"/>
            <p:cNvSpPr/>
            <p:nvPr/>
          </p:nvSpPr>
          <p:spPr>
            <a:xfrm>
              <a:off x="4057650" y="1476374"/>
              <a:ext cx="9525" cy="3609975"/>
            </a:xfrm>
            <a:custGeom>
              <a:rect b="b" l="l" r="r" t="t"/>
              <a:pathLst>
                <a:path extrusionOk="0" h="3609975" w="9525">
                  <a:moveTo>
                    <a:pt x="9525" y="0"/>
                  </a:moveTo>
                  <a:lnTo>
                    <a:pt x="0" y="0"/>
                  </a:lnTo>
                  <a:lnTo>
                    <a:pt x="0" y="3609975"/>
                  </a:lnTo>
                  <a:lnTo>
                    <a:pt x="9525" y="360997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E294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1" name="Google Shape;21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0525" y="1774824"/>
              <a:ext cx="238125" cy="193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12"/>
          <p:cNvSpPr txBox="1"/>
          <p:nvPr/>
        </p:nvSpPr>
        <p:spPr>
          <a:xfrm>
            <a:off x="377825" y="1739900"/>
            <a:ext cx="3225800" cy="1532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65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5721"/>
                </a:solidFill>
                <a:latin typeface="Tahoma"/>
                <a:ea typeface="Tahoma"/>
                <a:cs typeface="Tahoma"/>
                <a:sym typeface="Tahoma"/>
              </a:rPr>
              <a:t>DATA IMBALANCE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25000"/>
              </a:lnSpc>
              <a:spcBef>
                <a:spcPts val="106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Managing the inherent scarcity of failure events in training datasets compared to normal operation.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Requires advanced sampling techniques to maintain high recall.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13" name="Google Shape;213;p12"/>
          <p:cNvGrpSpPr/>
          <p:nvPr/>
        </p:nvGrpSpPr>
        <p:grpSpPr>
          <a:xfrm>
            <a:off x="4451299" y="1476374"/>
            <a:ext cx="3683051" cy="3609975"/>
            <a:chOff x="4451299" y="1476374"/>
            <a:chExt cx="3683051" cy="3609975"/>
          </a:xfrm>
        </p:grpSpPr>
        <p:sp>
          <p:nvSpPr>
            <p:cNvPr id="214" name="Google Shape;214;p12"/>
            <p:cNvSpPr/>
            <p:nvPr/>
          </p:nvSpPr>
          <p:spPr>
            <a:xfrm>
              <a:off x="8124825" y="1476374"/>
              <a:ext cx="9525" cy="3609975"/>
            </a:xfrm>
            <a:custGeom>
              <a:rect b="b" l="l" r="r" t="t"/>
              <a:pathLst>
                <a:path extrusionOk="0" h="3609975" w="9525">
                  <a:moveTo>
                    <a:pt x="9525" y="0"/>
                  </a:moveTo>
                  <a:lnTo>
                    <a:pt x="0" y="0"/>
                  </a:lnTo>
                  <a:lnTo>
                    <a:pt x="0" y="3609975"/>
                  </a:lnTo>
                  <a:lnTo>
                    <a:pt x="9525" y="360997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E294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5" name="Google Shape;21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51299" y="1774824"/>
              <a:ext cx="142875" cy="193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" name="Google Shape;216;p12"/>
          <p:cNvSpPr txBox="1"/>
          <p:nvPr/>
        </p:nvSpPr>
        <p:spPr>
          <a:xfrm>
            <a:off x="4438599" y="1739900"/>
            <a:ext cx="3134360" cy="1303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5721"/>
                </a:solidFill>
                <a:latin typeface="Tahoma"/>
                <a:ea typeface="Tahoma"/>
                <a:cs typeface="Tahoma"/>
                <a:sym typeface="Tahoma"/>
              </a:rPr>
              <a:t>HARDWARE SYNC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25000"/>
              </a:lnSpc>
              <a:spcBef>
                <a:spcPts val="106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Standardizing telemetry inputs across diverse legacy industrial equipment with varying sampling rates and communication protocols.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7" name="Google Shape;21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8898" y="1771650"/>
            <a:ext cx="149225" cy="1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2"/>
          <p:cNvSpPr txBox="1"/>
          <p:nvPr/>
        </p:nvSpPr>
        <p:spPr>
          <a:xfrm>
            <a:off x="8499373" y="1739900"/>
            <a:ext cx="3134360" cy="1303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5721"/>
                </a:solidFill>
                <a:latin typeface="Tahoma"/>
                <a:ea typeface="Tahoma"/>
                <a:cs typeface="Tahoma"/>
                <a:sym typeface="Tahoma"/>
              </a:rPr>
              <a:t>INFERENCE SPEED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25000"/>
              </a:lnSpc>
              <a:spcBef>
                <a:spcPts val="106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E2941"/>
                </a:solidFill>
                <a:latin typeface="Courier New"/>
                <a:ea typeface="Courier New"/>
                <a:cs typeface="Courier New"/>
                <a:sym typeface="Courier New"/>
              </a:rPr>
              <a:t>Optimizing SHAP value calculations for ultra-high-frequency sensor streams to ensure real-time explainability without system lag.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568325" y="5454650"/>
            <a:ext cx="10929620" cy="100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5721"/>
                </a:solidFill>
                <a:latin typeface="Tahoma"/>
                <a:ea typeface="Tahoma"/>
                <a:cs typeface="Tahoma"/>
                <a:sym typeface="Tahoma"/>
              </a:rPr>
              <a:t>FINAL SUMMARY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34300"/>
              </a:lnSpc>
              <a:spcBef>
                <a:spcPts val="82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0F4F8"/>
                </a:solidFill>
                <a:latin typeface="Courier New"/>
                <a:ea typeface="Courier New"/>
                <a:cs typeface="Courier New"/>
                <a:sym typeface="Courier New"/>
              </a:rPr>
              <a:t>The Smart Failure Detection System provides a production-ready bridge between raw industrial telemetry and intelligent, interpretable maintenance actions, ensuring operational excellence for Infosys Springboard</a:t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568325" y="6502400"/>
            <a:ext cx="436880" cy="231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0F4F8"/>
                </a:solidFill>
                <a:latin typeface="Courier New"/>
                <a:ea typeface="Courier New"/>
                <a:cs typeface="Courier New"/>
                <a:sym typeface="Courier New"/>
              </a:rPr>
              <a:t>7.0.</a:t>
            </a:r>
            <a:endParaRPr sz="13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104775" y="104774"/>
            <a:ext cx="11982450" cy="6648450"/>
          </a:xfrm>
          <a:custGeom>
            <a:rect b="b" l="l" r="r" t="t"/>
            <a:pathLst>
              <a:path extrusionOk="0" h="6648450" w="11982450">
                <a:moveTo>
                  <a:pt x="190500" y="6553200"/>
                </a:moveTo>
                <a:lnTo>
                  <a:pt x="104775" y="6553200"/>
                </a:lnTo>
                <a:lnTo>
                  <a:pt x="104775" y="6457950"/>
                </a:lnTo>
                <a:lnTo>
                  <a:pt x="95250" y="6457950"/>
                </a:lnTo>
                <a:lnTo>
                  <a:pt x="95250" y="6553200"/>
                </a:lnTo>
                <a:lnTo>
                  <a:pt x="0" y="6553200"/>
                </a:lnTo>
                <a:lnTo>
                  <a:pt x="0" y="6562725"/>
                </a:lnTo>
                <a:lnTo>
                  <a:pt x="95250" y="6562725"/>
                </a:lnTo>
                <a:lnTo>
                  <a:pt x="95250" y="6648450"/>
                </a:lnTo>
                <a:lnTo>
                  <a:pt x="104775" y="6648450"/>
                </a:lnTo>
                <a:lnTo>
                  <a:pt x="104775" y="6562725"/>
                </a:lnTo>
                <a:lnTo>
                  <a:pt x="190500" y="6562725"/>
                </a:lnTo>
                <a:lnTo>
                  <a:pt x="190500" y="6553200"/>
                </a:lnTo>
                <a:close/>
              </a:path>
              <a:path extrusionOk="0" h="6648450" w="11982450">
                <a:moveTo>
                  <a:pt x="190500" y="95250"/>
                </a:moveTo>
                <a:lnTo>
                  <a:pt x="104775" y="95250"/>
                </a:lnTo>
                <a:lnTo>
                  <a:pt x="104775" y="0"/>
                </a:ln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104775"/>
                </a:lnTo>
                <a:lnTo>
                  <a:pt x="95250" y="104775"/>
                </a:lnTo>
                <a:lnTo>
                  <a:pt x="95250" y="190500"/>
                </a:lnTo>
                <a:lnTo>
                  <a:pt x="104775" y="190500"/>
                </a:lnTo>
                <a:lnTo>
                  <a:pt x="104775" y="104775"/>
                </a:lnTo>
                <a:lnTo>
                  <a:pt x="190500" y="104775"/>
                </a:lnTo>
                <a:lnTo>
                  <a:pt x="190500" y="95250"/>
                </a:lnTo>
                <a:close/>
              </a:path>
              <a:path extrusionOk="0" h="6648450" w="11982450">
                <a:moveTo>
                  <a:pt x="11982450" y="6553200"/>
                </a:moveTo>
                <a:lnTo>
                  <a:pt x="11896725" y="6553200"/>
                </a:lnTo>
                <a:lnTo>
                  <a:pt x="11896725" y="6457950"/>
                </a:lnTo>
                <a:lnTo>
                  <a:pt x="11887200" y="6457950"/>
                </a:lnTo>
                <a:lnTo>
                  <a:pt x="11887200" y="6372225"/>
                </a:lnTo>
                <a:lnTo>
                  <a:pt x="11849100" y="6372225"/>
                </a:lnTo>
                <a:lnTo>
                  <a:pt x="11849100" y="6553200"/>
                </a:lnTo>
                <a:lnTo>
                  <a:pt x="11791950" y="6553200"/>
                </a:lnTo>
                <a:lnTo>
                  <a:pt x="11791950" y="6562725"/>
                </a:lnTo>
                <a:lnTo>
                  <a:pt x="11887200" y="6562725"/>
                </a:lnTo>
                <a:lnTo>
                  <a:pt x="11887200" y="6648450"/>
                </a:lnTo>
                <a:lnTo>
                  <a:pt x="11896725" y="6648450"/>
                </a:lnTo>
                <a:lnTo>
                  <a:pt x="11896725" y="6562725"/>
                </a:lnTo>
                <a:lnTo>
                  <a:pt x="11982450" y="6562725"/>
                </a:lnTo>
                <a:lnTo>
                  <a:pt x="11982450" y="6553200"/>
                </a:lnTo>
                <a:close/>
              </a:path>
              <a:path extrusionOk="0" h="6648450" w="11982450">
                <a:moveTo>
                  <a:pt x="11982450" y="95250"/>
                </a:moveTo>
                <a:lnTo>
                  <a:pt x="11896725" y="95250"/>
                </a:lnTo>
                <a:lnTo>
                  <a:pt x="11896725" y="0"/>
                </a:lnTo>
                <a:lnTo>
                  <a:pt x="11887200" y="0"/>
                </a:lnTo>
                <a:lnTo>
                  <a:pt x="11887200" y="95250"/>
                </a:lnTo>
                <a:lnTo>
                  <a:pt x="11791950" y="95250"/>
                </a:lnTo>
                <a:lnTo>
                  <a:pt x="11791950" y="104775"/>
                </a:lnTo>
                <a:lnTo>
                  <a:pt x="11887200" y="104775"/>
                </a:lnTo>
                <a:lnTo>
                  <a:pt x="11887200" y="190500"/>
                </a:lnTo>
                <a:lnTo>
                  <a:pt x="11896725" y="190500"/>
                </a:lnTo>
                <a:lnTo>
                  <a:pt x="11896725" y="104775"/>
                </a:lnTo>
                <a:lnTo>
                  <a:pt x="11982450" y="104775"/>
                </a:lnTo>
                <a:lnTo>
                  <a:pt x="11982450" y="95250"/>
                </a:lnTo>
                <a:close/>
              </a:path>
            </a:pathLst>
          </a:custGeom>
          <a:solidFill>
            <a:srgbClr val="FF57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 txBox="1"/>
          <p:nvPr/>
        </p:nvSpPr>
        <p:spPr>
          <a:xfrm>
            <a:off x="10725696" y="6464300"/>
            <a:ext cx="1145540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0F4F8"/>
                </a:solidFill>
                <a:latin typeface="Courier New"/>
                <a:ea typeface="Courier New"/>
                <a:cs typeface="Courier New"/>
                <a:sym typeface="Courier New"/>
              </a:rPr>
              <a:t>DONE BY TEAM C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