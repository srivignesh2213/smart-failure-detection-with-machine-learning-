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Lst>
  <p:sldSz cy="6858000" cx="12191350"/>
  <p:notesSz cx="6858000" cy="12191350"/>
  <p:embeddedFontLst>
    <p:embeddedFont>
      <p:font typeface="Lora"/>
      <p:regular r:id="rId11"/>
      <p:bold r:id="rId12"/>
      <p:italic r:id="rId13"/>
      <p:boldItalic r:id="rId14"/>
    </p:embeddedFont>
    <p:embeddedFont>
      <p:font typeface="Source Sans 3"/>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Lora-regular.fntdata"/><Relationship Id="rId10" Type="http://schemas.openxmlformats.org/officeDocument/2006/relationships/slide" Target="slides/slide6.xml"/><Relationship Id="rId13" Type="http://schemas.openxmlformats.org/officeDocument/2006/relationships/font" Target="fonts/Lora-italic.fntdata"/><Relationship Id="rId12" Type="http://schemas.openxmlformats.org/officeDocument/2006/relationships/font" Target="fonts/Lora-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SourceSans3-regular.fntdata"/><Relationship Id="rId14" Type="http://schemas.openxmlformats.org/officeDocument/2006/relationships/font" Target="fonts/Lora-boldItalic.fntdata"/><Relationship Id="rId17" Type="http://schemas.openxmlformats.org/officeDocument/2006/relationships/font" Target="fonts/SourceSans3-italic.fntdata"/><Relationship Id="rId16" Type="http://schemas.openxmlformats.org/officeDocument/2006/relationships/font" Target="fonts/SourceSans3-bold.fntdata"/><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font" Target="fonts/SourceSans3-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 name="Google Shape;16;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 name="Google Shape;17;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000000"/>
        </a:solidFill>
      </p:bgPr>
    </p:bg>
    <p:spTree>
      <p:nvGrpSpPr>
        <p:cNvPr id="10" name="Shape 10"/>
        <p:cNvGrpSpPr/>
        <p:nvPr/>
      </p:nvGrpSpPr>
      <p:grpSpPr>
        <a:xfrm>
          <a:off x="0" y="0"/>
          <a:ext cx="0" cy="0"/>
          <a:chOff x="0" y="0"/>
          <a:chExt cx="0" cy="0"/>
        </a:xfrm>
      </p:grpSpPr>
      <p:sp>
        <p:nvSpPr>
          <p:cNvPr id="11" name="Google Shape;11;p2"/>
          <p:cNvSpPr/>
          <p:nvPr/>
        </p:nvSpPr>
        <p:spPr>
          <a:xfrm>
            <a:off x="0" y="0"/>
            <a:ext cx="12191695" cy="6858000"/>
          </a:xfrm>
          <a:prstGeom prst="rect">
            <a:avLst/>
          </a:prstGeom>
          <a:solidFill>
            <a:srgbClr val="181A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2191695" cy="6858000"/>
          </a:xfrm>
          <a:prstGeom prst="rect">
            <a:avLst/>
          </a:prstGeom>
          <a:solidFill>
            <a:srgbClr val="2528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jp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jpg"/><Relationship Id="rId4" Type="http://schemas.openxmlformats.org/officeDocument/2006/relationships/image" Target="../media/image7.png"/><Relationship Id="rId5"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 name="Shape 18"/>
        <p:cNvGrpSpPr/>
        <p:nvPr/>
      </p:nvGrpSpPr>
      <p:grpSpPr>
        <a:xfrm>
          <a:off x="0" y="0"/>
          <a:ext cx="0" cy="0"/>
          <a:chOff x="0" y="0"/>
          <a:chExt cx="0" cy="0"/>
        </a:xfrm>
      </p:grpSpPr>
      <p:pic>
        <p:nvPicPr>
          <p:cNvPr descr="preencoded.png" id="19" name="Google Shape;19;p4"/>
          <p:cNvPicPr preferRelativeResize="0"/>
          <p:nvPr/>
        </p:nvPicPr>
        <p:blipFill rotWithShape="1">
          <a:blip r:embed="rId3">
            <a:alphaModFix/>
          </a:blip>
          <a:srcRect b="0" l="0" r="0" t="0"/>
          <a:stretch/>
        </p:blipFill>
        <p:spPr>
          <a:xfrm>
            <a:off x="7619809" y="0"/>
            <a:ext cx="4571886" cy="6857998"/>
          </a:xfrm>
          <a:prstGeom prst="rect">
            <a:avLst/>
          </a:prstGeom>
          <a:noFill/>
          <a:ln>
            <a:noFill/>
          </a:ln>
        </p:spPr>
      </p:pic>
      <p:sp>
        <p:nvSpPr>
          <p:cNvPr id="20" name="Google Shape;20;p4"/>
          <p:cNvSpPr/>
          <p:nvPr/>
        </p:nvSpPr>
        <p:spPr>
          <a:xfrm>
            <a:off x="698086" y="952500"/>
            <a:ext cx="6477000" cy="1714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3000">
                <a:solidFill>
                  <a:srgbClr val="F98AC7"/>
                </a:solidFill>
                <a:latin typeface="Lora"/>
                <a:ea typeface="Lora"/>
                <a:cs typeface="Lora"/>
                <a:sym typeface="Lora"/>
              </a:rPr>
              <a:t>Infosys</a:t>
            </a:r>
            <a:endParaRPr b="0" sz="3000">
              <a:solidFill>
                <a:srgbClr val="F98AC7"/>
              </a:solidFill>
              <a:latin typeface="Lora"/>
              <a:ea typeface="Lora"/>
              <a:cs typeface="Lora"/>
              <a:sym typeface="Lora"/>
            </a:endParaRPr>
          </a:p>
          <a:p>
            <a:pPr indent="0" lvl="0" marL="0" rtl="0" algn="l">
              <a:spcBef>
                <a:spcPts val="0"/>
              </a:spcBef>
              <a:spcAft>
                <a:spcPts val="0"/>
              </a:spcAft>
              <a:buNone/>
            </a:pPr>
            <a:r>
              <a:rPr b="0" lang="en-US" sz="3000">
                <a:solidFill>
                  <a:srgbClr val="F98AC7"/>
                </a:solidFill>
                <a:latin typeface="Lora"/>
                <a:ea typeface="Lora"/>
                <a:cs typeface="Lora"/>
                <a:sym typeface="Lora"/>
              </a:rPr>
              <a:t>Machine Learning System for</a:t>
            </a:r>
            <a:endParaRPr b="0" sz="3000">
              <a:solidFill>
                <a:srgbClr val="F98AC7"/>
              </a:solidFill>
              <a:latin typeface="Lora"/>
              <a:ea typeface="Lora"/>
              <a:cs typeface="Lora"/>
              <a:sym typeface="Lora"/>
            </a:endParaRPr>
          </a:p>
          <a:p>
            <a:pPr indent="0" lvl="0" marL="0" rtl="0" algn="l">
              <a:spcBef>
                <a:spcPts val="0"/>
              </a:spcBef>
              <a:spcAft>
                <a:spcPts val="0"/>
              </a:spcAft>
              <a:buNone/>
            </a:pPr>
            <a:r>
              <a:rPr b="0" lang="en-US" sz="3000">
                <a:solidFill>
                  <a:srgbClr val="F98AC7"/>
                </a:solidFill>
                <a:latin typeface="Lora"/>
                <a:ea typeface="Lora"/>
                <a:cs typeface="Lora"/>
                <a:sym typeface="Lora"/>
              </a:rPr>
              <a:t>Early Detection of Equipment</a:t>
            </a:r>
            <a:endParaRPr b="0" sz="3000">
              <a:solidFill>
                <a:srgbClr val="F98AC7"/>
              </a:solidFill>
              <a:latin typeface="Lora"/>
              <a:ea typeface="Lora"/>
              <a:cs typeface="Lora"/>
              <a:sym typeface="Lora"/>
            </a:endParaRPr>
          </a:p>
        </p:txBody>
      </p:sp>
      <p:sp>
        <p:nvSpPr>
          <p:cNvPr id="21" name="Google Shape;21;p4"/>
          <p:cNvSpPr/>
          <p:nvPr/>
        </p:nvSpPr>
        <p:spPr>
          <a:xfrm>
            <a:off x="698086" y="2889250"/>
            <a:ext cx="6833100" cy="3192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FFFFF"/>
              </a:buClr>
              <a:buSzPts val="1550"/>
              <a:buFont typeface="Source Sans 3"/>
              <a:buNone/>
            </a:pPr>
            <a:r>
              <a:rPr b="0" i="0" lang="en-US" sz="1550" u="none" cap="none" strike="noStrike">
                <a:solidFill>
                  <a:srgbClr val="FFFFFF"/>
                </a:solidFill>
                <a:latin typeface="Source Sans 3"/>
                <a:ea typeface="Source Sans 3"/>
                <a:cs typeface="Source Sans 3"/>
                <a:sym typeface="Source Sans 3"/>
              </a:rPr>
              <a:t>AI-Powered Industrial Predictive Maintenance</a:t>
            </a:r>
            <a:endParaRPr b="0" i="0" sz="1550" u="none" cap="none" strike="noStrike">
              <a:solidFill>
                <a:schemeClr val="dk1"/>
              </a:solidFill>
              <a:latin typeface="Calibri"/>
              <a:ea typeface="Calibri"/>
              <a:cs typeface="Calibri"/>
              <a:sym typeface="Calibri"/>
            </a:endParaRPr>
          </a:p>
        </p:txBody>
      </p:sp>
      <p:sp>
        <p:nvSpPr>
          <p:cNvPr id="22" name="Google Shape;22;p4"/>
          <p:cNvSpPr/>
          <p:nvPr/>
        </p:nvSpPr>
        <p:spPr>
          <a:xfrm>
            <a:off x="698086" y="3432770"/>
            <a:ext cx="6223500" cy="1464900"/>
          </a:xfrm>
          <a:prstGeom prst="roundRect">
            <a:avLst>
              <a:gd fmla="val 2042" name="adj"/>
            </a:avLst>
          </a:prstGeom>
          <a:solidFill>
            <a:srgbClr val="0223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 name="Google Shape;23;p4"/>
          <p:cNvPicPr preferRelativeResize="0"/>
          <p:nvPr/>
        </p:nvPicPr>
        <p:blipFill rotWithShape="1">
          <a:blip r:embed="rId4">
            <a:alphaModFix/>
          </a:blip>
          <a:srcRect b="0" l="0" r="0" t="0"/>
          <a:stretch/>
        </p:blipFill>
        <p:spPr>
          <a:xfrm>
            <a:off x="897510" y="3723382"/>
            <a:ext cx="249330" cy="199430"/>
          </a:xfrm>
          <a:prstGeom prst="rect">
            <a:avLst/>
          </a:prstGeom>
          <a:noFill/>
          <a:ln>
            <a:noFill/>
          </a:ln>
        </p:spPr>
      </p:pic>
      <p:sp>
        <p:nvSpPr>
          <p:cNvPr id="24" name="Google Shape;24;p4"/>
          <p:cNvSpPr/>
          <p:nvPr/>
        </p:nvSpPr>
        <p:spPr>
          <a:xfrm>
            <a:off x="1346266" y="3662065"/>
            <a:ext cx="5376000" cy="1116000"/>
          </a:xfrm>
          <a:prstGeom prst="rect">
            <a:avLst/>
          </a:prstGeom>
          <a:noFill/>
          <a:ln>
            <a:noFill/>
          </a:ln>
        </p:spPr>
        <p:txBody>
          <a:bodyPr anchorCtr="0" anchor="t" bIns="0" lIns="0" spcFirstLastPara="1" rIns="0" wrap="square" tIns="79775">
            <a:noAutofit/>
          </a:bodyPr>
          <a:lstStyle/>
          <a:p>
            <a:pPr indent="-314960" lvl="0" marL="314960" marR="0" rtl="0" algn="l">
              <a:lnSpc>
                <a:spcPct val="133000"/>
              </a:lnSpc>
              <a:spcBef>
                <a:spcPts val="0"/>
              </a:spcBef>
              <a:spcAft>
                <a:spcPts val="0"/>
              </a:spcAft>
              <a:buClr>
                <a:srgbClr val="FFFFFF"/>
              </a:buClr>
              <a:buSzPts val="1550"/>
              <a:buFont typeface="Source Sans 3"/>
              <a:buChar char="•"/>
            </a:pPr>
            <a:r>
              <a:rPr b="0" i="0" lang="en-US" sz="1550" u="none" cap="none" strike="noStrike">
                <a:solidFill>
                  <a:srgbClr val="FFFFFF"/>
                </a:solidFill>
                <a:latin typeface="Source Sans 3"/>
                <a:ea typeface="Source Sans 3"/>
                <a:cs typeface="Source Sans 3"/>
                <a:sym typeface="Source Sans 3"/>
              </a:rPr>
              <a:t>Infosys Springboard 7.0 Internship</a:t>
            </a:r>
            <a:endParaRPr b="0" i="0" sz="15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FFFFFF"/>
              </a:buClr>
              <a:buSzPts val="1550"/>
              <a:buFont typeface="Source Sans 3"/>
              <a:buNone/>
            </a:pPr>
            <a:r>
              <a:rPr b="0" i="0" lang="en-US" sz="1550" u="none" cap="none" strike="noStrike">
                <a:solidFill>
                  <a:srgbClr val="FFFFFF"/>
                </a:solidFill>
                <a:latin typeface="Source Sans 3"/>
                <a:ea typeface="Source Sans 3"/>
                <a:cs typeface="Source Sans 3"/>
                <a:sym typeface="Source Sans 3"/>
              </a:rPr>
              <a:t>        Milestone  4 Submission</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FFFFFF"/>
              </a:buClr>
              <a:buSzPts val="1550"/>
              <a:buFont typeface="Source Sans 3"/>
              <a:buChar char="•"/>
            </a:pPr>
            <a:r>
              <a:rPr b="0" i="0" lang="en-US" sz="1550" u="none" cap="none" strike="noStrike">
                <a:solidFill>
                  <a:srgbClr val="FFFFFF"/>
                </a:solidFill>
                <a:latin typeface="Source Sans 3"/>
                <a:ea typeface="Source Sans 3"/>
                <a:cs typeface="Source Sans 3"/>
                <a:sym typeface="Source Sans 3"/>
              </a:rPr>
              <a:t>Domain: Artificial Intelligence</a:t>
            </a:r>
            <a:endParaRPr b="0" i="0" sz="1550" u="none" cap="none" strike="noStrike">
              <a:solidFill>
                <a:schemeClr val="dk1"/>
              </a:solidFill>
              <a:latin typeface="Calibri"/>
              <a:ea typeface="Calibri"/>
              <a:cs typeface="Calibri"/>
              <a:sym typeface="Calibri"/>
            </a:endParaRPr>
          </a:p>
        </p:txBody>
      </p:sp>
      <p:sp>
        <p:nvSpPr>
          <p:cNvPr id="25" name="Google Shape;25;p4"/>
          <p:cNvSpPr/>
          <p:nvPr/>
        </p:nvSpPr>
        <p:spPr>
          <a:xfrm>
            <a:off x="88501" y="5122069"/>
            <a:ext cx="6833100" cy="319200"/>
          </a:xfrm>
          <a:prstGeom prst="rect">
            <a:avLst/>
          </a:prstGeom>
          <a:noFill/>
          <a:ln>
            <a:noFill/>
          </a:ln>
        </p:spPr>
        <p:txBody>
          <a:bodyPr anchorCtr="0" anchor="t" bIns="0" lIns="0" spcFirstLastPara="1" rIns="0" wrap="square" tIns="0">
            <a:noAutofit/>
          </a:bodyPr>
          <a:lstStyle/>
          <a:p>
            <a:pPr indent="0" lvl="0" marL="0" marR="0" rtl="0" algn="r">
              <a:lnSpc>
                <a:spcPct val="133000"/>
              </a:lnSpc>
              <a:spcBef>
                <a:spcPts val="0"/>
              </a:spcBef>
              <a:spcAft>
                <a:spcPts val="0"/>
              </a:spcAft>
              <a:buClr>
                <a:schemeClr val="dk1"/>
              </a:buClr>
              <a:buSzPts val="1550"/>
              <a:buFont typeface="Calibri"/>
              <a:buNone/>
            </a:pPr>
            <a:r>
              <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pic>
        <p:nvPicPr>
          <p:cNvPr descr="preencoded.png" id="31" name="Google Shape;31;p5"/>
          <p:cNvPicPr preferRelativeResize="0"/>
          <p:nvPr/>
        </p:nvPicPr>
        <p:blipFill rotWithShape="1">
          <a:blip r:embed="rId3">
            <a:alphaModFix/>
          </a:blip>
          <a:srcRect b="0" l="0" r="0" t="0"/>
          <a:stretch/>
        </p:blipFill>
        <p:spPr>
          <a:xfrm>
            <a:off x="0" y="0"/>
            <a:ext cx="4571886" cy="6858000"/>
          </a:xfrm>
          <a:prstGeom prst="rect">
            <a:avLst/>
          </a:prstGeom>
          <a:noFill/>
          <a:ln>
            <a:noFill/>
          </a:ln>
        </p:spPr>
      </p:pic>
      <p:sp>
        <p:nvSpPr>
          <p:cNvPr id="32" name="Google Shape;32;p5"/>
          <p:cNvSpPr/>
          <p:nvPr/>
        </p:nvSpPr>
        <p:spPr>
          <a:xfrm>
            <a:off x="5269971" y="805259"/>
            <a:ext cx="6223638" cy="82113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98AC7"/>
              </a:buClr>
              <a:buSzPts val="2550"/>
              <a:buFont typeface="Lora"/>
              <a:buNone/>
            </a:pPr>
            <a:r>
              <a:rPr b="0" i="0" lang="en-US" sz="2550" u="none" cap="none" strike="noStrike">
                <a:solidFill>
                  <a:srgbClr val="F98AC7"/>
                </a:solidFill>
                <a:latin typeface="Lora"/>
                <a:ea typeface="Lora"/>
                <a:cs typeface="Lora"/>
                <a:sym typeface="Lora"/>
              </a:rPr>
              <a:t>The Problem: Reactive Maintenance Costs</a:t>
            </a:r>
            <a:endParaRPr b="0" i="0" sz="2550" u="none" cap="none" strike="noStrike">
              <a:solidFill>
                <a:schemeClr val="dk1"/>
              </a:solidFill>
              <a:latin typeface="Calibri"/>
              <a:ea typeface="Calibri"/>
              <a:cs typeface="Calibri"/>
              <a:sym typeface="Calibri"/>
            </a:endParaRPr>
          </a:p>
        </p:txBody>
      </p:sp>
      <p:pic>
        <p:nvPicPr>
          <p:cNvPr descr="preencoded.png" id="33" name="Google Shape;33;p5"/>
          <p:cNvPicPr preferRelativeResize="0"/>
          <p:nvPr/>
        </p:nvPicPr>
        <p:blipFill rotWithShape="1">
          <a:blip r:embed="rId4">
            <a:alphaModFix/>
          </a:blip>
          <a:srcRect b="0" l="0" r="0" t="0"/>
          <a:stretch/>
        </p:blipFill>
        <p:spPr>
          <a:xfrm>
            <a:off x="5269971" y="1772940"/>
            <a:ext cx="6223638" cy="1055985"/>
          </a:xfrm>
          <a:prstGeom prst="rect">
            <a:avLst/>
          </a:prstGeom>
          <a:noFill/>
          <a:ln>
            <a:noFill/>
          </a:ln>
        </p:spPr>
      </p:pic>
      <p:sp>
        <p:nvSpPr>
          <p:cNvPr id="34" name="Google Shape;34;p5"/>
          <p:cNvSpPr/>
          <p:nvPr/>
        </p:nvSpPr>
        <p:spPr>
          <a:xfrm>
            <a:off x="5504816" y="1931591"/>
            <a:ext cx="5830146"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250"/>
              <a:buFont typeface="Lora"/>
              <a:buNone/>
            </a:pPr>
            <a:r>
              <a:rPr b="0" i="0" lang="en-US" sz="1250" u="none" cap="none" strike="noStrike">
                <a:solidFill>
                  <a:srgbClr val="D6E5EF"/>
                </a:solidFill>
                <a:latin typeface="Lora"/>
                <a:ea typeface="Lora"/>
                <a:cs typeface="Lora"/>
                <a:sym typeface="Lora"/>
              </a:rPr>
              <a:t>UNPLANNED BREAKDOWNS</a:t>
            </a:r>
            <a:endParaRPr b="0" i="0" sz="1250" u="none" cap="none" strike="noStrike">
              <a:solidFill>
                <a:schemeClr val="dk1"/>
              </a:solidFill>
              <a:latin typeface="Calibri"/>
              <a:ea typeface="Calibri"/>
              <a:cs typeface="Calibri"/>
              <a:sym typeface="Calibri"/>
            </a:endParaRPr>
          </a:p>
        </p:txBody>
      </p:sp>
      <p:sp>
        <p:nvSpPr>
          <p:cNvPr id="35" name="Google Shape;35;p5"/>
          <p:cNvSpPr/>
          <p:nvPr/>
        </p:nvSpPr>
        <p:spPr>
          <a:xfrm>
            <a:off x="5504816" y="2195612"/>
            <a:ext cx="5830146" cy="474663"/>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D6E5EF"/>
              </a:buClr>
              <a:buSzPts val="1350"/>
              <a:buFont typeface="Source Sans 3"/>
              <a:buNone/>
            </a:pPr>
            <a:r>
              <a:rPr b="0" i="0" lang="en-US" sz="1350" u="none" cap="none" strike="noStrike">
                <a:solidFill>
                  <a:srgbClr val="D6E5EF"/>
                </a:solidFill>
                <a:latin typeface="Source Sans 3"/>
                <a:ea typeface="Source Sans 3"/>
                <a:cs typeface="Source Sans 3"/>
                <a:sym typeface="Source Sans 3"/>
              </a:rPr>
              <a:t>Unexpected machine failures interrupt production and cause major financial losses.</a:t>
            </a:r>
            <a:endParaRPr b="0" i="0" sz="1350" u="none" cap="none" strike="noStrike">
              <a:solidFill>
                <a:schemeClr val="dk1"/>
              </a:solidFill>
              <a:latin typeface="Calibri"/>
              <a:ea typeface="Calibri"/>
              <a:cs typeface="Calibri"/>
              <a:sym typeface="Calibri"/>
            </a:endParaRPr>
          </a:p>
        </p:txBody>
      </p:sp>
      <p:pic>
        <p:nvPicPr>
          <p:cNvPr descr="preencoded.png" id="36" name="Google Shape;36;p5"/>
          <p:cNvPicPr preferRelativeResize="0"/>
          <p:nvPr/>
        </p:nvPicPr>
        <p:blipFill rotWithShape="1">
          <a:blip r:embed="rId4">
            <a:alphaModFix/>
          </a:blip>
          <a:srcRect b="0" l="0" r="0" t="0"/>
          <a:stretch/>
        </p:blipFill>
        <p:spPr>
          <a:xfrm>
            <a:off x="5269971" y="2926655"/>
            <a:ext cx="6223638" cy="1055985"/>
          </a:xfrm>
          <a:prstGeom prst="rect">
            <a:avLst/>
          </a:prstGeom>
          <a:noFill/>
          <a:ln>
            <a:noFill/>
          </a:ln>
        </p:spPr>
      </p:pic>
      <p:sp>
        <p:nvSpPr>
          <p:cNvPr id="37" name="Google Shape;37;p5"/>
          <p:cNvSpPr/>
          <p:nvPr/>
        </p:nvSpPr>
        <p:spPr>
          <a:xfrm>
            <a:off x="5504816" y="3085306"/>
            <a:ext cx="5830146"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250"/>
              <a:buFont typeface="Lora"/>
              <a:buNone/>
            </a:pPr>
            <a:r>
              <a:rPr b="0" i="0" lang="en-US" sz="1250" u="none" cap="none" strike="noStrike">
                <a:solidFill>
                  <a:srgbClr val="D6E5EF"/>
                </a:solidFill>
                <a:latin typeface="Lora"/>
                <a:ea typeface="Lora"/>
                <a:cs typeface="Lora"/>
                <a:sym typeface="Lora"/>
              </a:rPr>
              <a:t>REACTIVE MAINTENANCE</a:t>
            </a:r>
            <a:endParaRPr b="0" i="0" sz="1250" u="none" cap="none" strike="noStrike">
              <a:solidFill>
                <a:schemeClr val="dk1"/>
              </a:solidFill>
              <a:latin typeface="Calibri"/>
              <a:ea typeface="Calibri"/>
              <a:cs typeface="Calibri"/>
              <a:sym typeface="Calibri"/>
            </a:endParaRPr>
          </a:p>
        </p:txBody>
      </p:sp>
      <p:sp>
        <p:nvSpPr>
          <p:cNvPr id="38" name="Google Shape;38;p5"/>
          <p:cNvSpPr/>
          <p:nvPr/>
        </p:nvSpPr>
        <p:spPr>
          <a:xfrm>
            <a:off x="5504816" y="3349327"/>
            <a:ext cx="5830146" cy="474663"/>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D6E5EF"/>
              </a:buClr>
              <a:buSzPts val="1350"/>
              <a:buFont typeface="Source Sans 3"/>
              <a:buNone/>
            </a:pPr>
            <a:r>
              <a:rPr b="0" i="0" lang="en-US" sz="1350" u="none" cap="none" strike="noStrike">
                <a:solidFill>
                  <a:srgbClr val="D6E5EF"/>
                </a:solidFill>
                <a:latin typeface="Source Sans 3"/>
                <a:ea typeface="Source Sans 3"/>
                <a:cs typeface="Source Sans 3"/>
                <a:sym typeface="Source Sans 3"/>
              </a:rPr>
              <a:t>Traditional maintenance responds after a breakdown, increasing repair cost and downtime.</a:t>
            </a:r>
            <a:endParaRPr b="0" i="0" sz="1350" u="none" cap="none" strike="noStrike">
              <a:solidFill>
                <a:schemeClr val="dk1"/>
              </a:solidFill>
              <a:latin typeface="Calibri"/>
              <a:ea typeface="Calibri"/>
              <a:cs typeface="Calibri"/>
              <a:sym typeface="Calibri"/>
            </a:endParaRPr>
          </a:p>
        </p:txBody>
      </p:sp>
      <p:pic>
        <p:nvPicPr>
          <p:cNvPr descr="preencoded.png" id="39" name="Google Shape;39;p5"/>
          <p:cNvPicPr preferRelativeResize="0"/>
          <p:nvPr/>
        </p:nvPicPr>
        <p:blipFill rotWithShape="1">
          <a:blip r:embed="rId4">
            <a:alphaModFix/>
          </a:blip>
          <a:srcRect b="0" l="0" r="0" t="0"/>
          <a:stretch/>
        </p:blipFill>
        <p:spPr>
          <a:xfrm>
            <a:off x="5269971" y="4080371"/>
            <a:ext cx="6223638" cy="1055985"/>
          </a:xfrm>
          <a:prstGeom prst="rect">
            <a:avLst/>
          </a:prstGeom>
          <a:noFill/>
          <a:ln>
            <a:noFill/>
          </a:ln>
        </p:spPr>
      </p:pic>
      <p:sp>
        <p:nvSpPr>
          <p:cNvPr id="40" name="Google Shape;40;p5"/>
          <p:cNvSpPr/>
          <p:nvPr/>
        </p:nvSpPr>
        <p:spPr>
          <a:xfrm>
            <a:off x="5504816" y="4239022"/>
            <a:ext cx="5830146"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250"/>
              <a:buFont typeface="Lora"/>
              <a:buNone/>
            </a:pPr>
            <a:r>
              <a:rPr b="0" i="0" lang="en-US" sz="1250" u="none" cap="none" strike="noStrike">
                <a:solidFill>
                  <a:srgbClr val="D6E5EF"/>
                </a:solidFill>
                <a:latin typeface="Lora"/>
                <a:ea typeface="Lora"/>
                <a:cs typeface="Lora"/>
                <a:sym typeface="Lora"/>
              </a:rPr>
              <a:t>DATA COMPLEXITY</a:t>
            </a:r>
            <a:endParaRPr b="0" i="0" sz="1250" u="none" cap="none" strike="noStrike">
              <a:solidFill>
                <a:schemeClr val="dk1"/>
              </a:solidFill>
              <a:latin typeface="Calibri"/>
              <a:ea typeface="Calibri"/>
              <a:cs typeface="Calibri"/>
              <a:sym typeface="Calibri"/>
            </a:endParaRPr>
          </a:p>
        </p:txBody>
      </p:sp>
      <p:sp>
        <p:nvSpPr>
          <p:cNvPr id="41" name="Google Shape;41;p5"/>
          <p:cNvSpPr/>
          <p:nvPr/>
        </p:nvSpPr>
        <p:spPr>
          <a:xfrm>
            <a:off x="5504816" y="4503043"/>
            <a:ext cx="5830146" cy="474663"/>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D6E5EF"/>
              </a:buClr>
              <a:buSzPts val="1350"/>
              <a:buFont typeface="Source Sans 3"/>
              <a:buNone/>
            </a:pPr>
            <a:r>
              <a:rPr b="0" i="0" lang="en-US" sz="1350" u="none" cap="none" strike="noStrike">
                <a:solidFill>
                  <a:srgbClr val="D6E5EF"/>
                </a:solidFill>
                <a:latin typeface="Source Sans 3"/>
                <a:ea typeface="Source Sans 3"/>
                <a:cs typeface="Source Sans 3"/>
                <a:sym typeface="Source Sans 3"/>
              </a:rPr>
              <a:t>Industrial sensors generate large volumes of temperature, torque, speed, and vibration data that are difficult to monitor manually.</a:t>
            </a:r>
            <a:endParaRPr b="0" i="0" sz="1350" u="none" cap="none" strike="noStrike">
              <a:solidFill>
                <a:schemeClr val="dk1"/>
              </a:solidFill>
              <a:latin typeface="Calibri"/>
              <a:ea typeface="Calibri"/>
              <a:cs typeface="Calibri"/>
              <a:sym typeface="Calibri"/>
            </a:endParaRPr>
          </a:p>
        </p:txBody>
      </p:sp>
      <p:pic>
        <p:nvPicPr>
          <p:cNvPr descr="preencoded.png" id="42" name="Google Shape;42;p5"/>
          <p:cNvPicPr preferRelativeResize="0"/>
          <p:nvPr/>
        </p:nvPicPr>
        <p:blipFill rotWithShape="1">
          <a:blip r:embed="rId5">
            <a:alphaModFix/>
          </a:blip>
          <a:srcRect b="0" l="0" r="0" t="0"/>
          <a:stretch/>
        </p:blipFill>
        <p:spPr>
          <a:xfrm>
            <a:off x="5269971" y="5234087"/>
            <a:ext cx="6223638" cy="818654"/>
          </a:xfrm>
          <a:prstGeom prst="rect">
            <a:avLst/>
          </a:prstGeom>
          <a:noFill/>
          <a:ln>
            <a:noFill/>
          </a:ln>
        </p:spPr>
      </p:pic>
      <p:sp>
        <p:nvSpPr>
          <p:cNvPr id="43" name="Google Shape;43;p5"/>
          <p:cNvSpPr/>
          <p:nvPr/>
        </p:nvSpPr>
        <p:spPr>
          <a:xfrm>
            <a:off x="5504816" y="5392738"/>
            <a:ext cx="5830146" cy="20538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250"/>
              <a:buFont typeface="Lora"/>
              <a:buNone/>
            </a:pPr>
            <a:r>
              <a:rPr b="0" i="0" lang="en-US" sz="1250" u="none" cap="none" strike="noStrike">
                <a:solidFill>
                  <a:srgbClr val="D6E5EF"/>
                </a:solidFill>
                <a:latin typeface="Lora"/>
                <a:ea typeface="Lora"/>
                <a:cs typeface="Lora"/>
                <a:sym typeface="Lora"/>
              </a:rPr>
              <a:t>THE NEED</a:t>
            </a:r>
            <a:endParaRPr b="0" i="0" sz="1250" u="none" cap="none" strike="noStrike">
              <a:solidFill>
                <a:schemeClr val="dk1"/>
              </a:solidFill>
              <a:latin typeface="Calibri"/>
              <a:ea typeface="Calibri"/>
              <a:cs typeface="Calibri"/>
              <a:sym typeface="Calibri"/>
            </a:endParaRPr>
          </a:p>
        </p:txBody>
      </p:sp>
      <p:sp>
        <p:nvSpPr>
          <p:cNvPr id="44" name="Google Shape;44;p5"/>
          <p:cNvSpPr/>
          <p:nvPr/>
        </p:nvSpPr>
        <p:spPr>
          <a:xfrm>
            <a:off x="5504816" y="5656759"/>
            <a:ext cx="5830146" cy="237331"/>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D6E5EF"/>
              </a:buClr>
              <a:buSzPts val="1350"/>
              <a:buFont typeface="Source Sans 3"/>
              <a:buNone/>
            </a:pPr>
            <a:r>
              <a:rPr b="0" i="0" lang="en-US" sz="1350" u="none" cap="none" strike="noStrike">
                <a:solidFill>
                  <a:srgbClr val="D6E5EF"/>
                </a:solidFill>
                <a:latin typeface="Source Sans 3"/>
                <a:ea typeface="Source Sans 3"/>
                <a:cs typeface="Source Sans 3"/>
                <a:sym typeface="Source Sans 3"/>
              </a:rPr>
              <a:t>Predict failures before they occur and enable proactive maintenance planning.</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6"/>
          <p:cNvSpPr/>
          <p:nvPr/>
        </p:nvSpPr>
        <p:spPr>
          <a:xfrm>
            <a:off x="698086" y="1061442"/>
            <a:ext cx="10795524" cy="44003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98AC7"/>
              </a:buClr>
              <a:buSzPts val="2750"/>
              <a:buFont typeface="Lora"/>
              <a:buNone/>
            </a:pPr>
            <a:r>
              <a:rPr b="0" i="0" lang="en-US" sz="2750" u="none" cap="none" strike="noStrike">
                <a:solidFill>
                  <a:srgbClr val="F98AC7"/>
                </a:solidFill>
                <a:latin typeface="Lora"/>
                <a:ea typeface="Lora"/>
                <a:cs typeface="Lora"/>
                <a:sym typeface="Lora"/>
              </a:rPr>
              <a:t>SYSTEM ARCHITECTURE &amp; TECHNOLOGY STACK</a:t>
            </a:r>
            <a:endParaRPr b="0" i="0" sz="2750" u="none" cap="none" strike="noStrike">
              <a:solidFill>
                <a:schemeClr val="dk1"/>
              </a:solidFill>
              <a:latin typeface="Calibri"/>
              <a:ea typeface="Calibri"/>
              <a:cs typeface="Calibri"/>
              <a:sym typeface="Calibri"/>
            </a:endParaRPr>
          </a:p>
        </p:txBody>
      </p:sp>
      <p:pic>
        <p:nvPicPr>
          <p:cNvPr descr="preencoded.png" id="51" name="Google Shape;51;p6"/>
          <p:cNvPicPr preferRelativeResize="0"/>
          <p:nvPr/>
        </p:nvPicPr>
        <p:blipFill rotWithShape="1">
          <a:blip r:embed="rId3">
            <a:alphaModFix/>
          </a:blip>
          <a:srcRect b="0" l="0" r="0" t="0"/>
          <a:stretch/>
        </p:blipFill>
        <p:spPr>
          <a:xfrm>
            <a:off x="698086" y="1795959"/>
            <a:ext cx="6331288" cy="1192907"/>
          </a:xfrm>
          <a:prstGeom prst="rect">
            <a:avLst/>
          </a:prstGeom>
          <a:noFill/>
          <a:ln>
            <a:noFill/>
          </a:ln>
        </p:spPr>
      </p:pic>
      <p:sp>
        <p:nvSpPr>
          <p:cNvPr id="52" name="Google Shape;52;p6"/>
          <p:cNvSpPr/>
          <p:nvPr/>
        </p:nvSpPr>
        <p:spPr>
          <a:xfrm>
            <a:off x="942852" y="1964531"/>
            <a:ext cx="5917953" cy="2199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350"/>
              <a:buFont typeface="Lora"/>
              <a:buNone/>
            </a:pPr>
            <a:r>
              <a:rPr b="0" i="0" lang="en-US" sz="1350" u="none" cap="none" strike="noStrike">
                <a:solidFill>
                  <a:srgbClr val="D6E5EF"/>
                </a:solidFill>
                <a:latin typeface="Lora"/>
                <a:ea typeface="Lora"/>
                <a:cs typeface="Lora"/>
                <a:sym typeface="Lora"/>
              </a:rPr>
              <a:t>PRESENTATION LAYER</a:t>
            </a:r>
            <a:endParaRPr b="0" i="0" sz="1350" u="none" cap="none" strike="noStrike">
              <a:solidFill>
                <a:schemeClr val="dk1"/>
              </a:solidFill>
              <a:latin typeface="Calibri"/>
              <a:ea typeface="Calibri"/>
              <a:cs typeface="Calibri"/>
              <a:sym typeface="Calibri"/>
            </a:endParaRPr>
          </a:p>
        </p:txBody>
      </p:sp>
      <p:sp>
        <p:nvSpPr>
          <p:cNvPr id="53" name="Google Shape;53;p6"/>
          <p:cNvSpPr/>
          <p:nvPr/>
        </p:nvSpPr>
        <p:spPr>
          <a:xfrm>
            <a:off x="942852" y="2296616"/>
            <a:ext cx="5917953" cy="523677"/>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6E5EF"/>
              </a:buClr>
              <a:buSzPts val="1450"/>
              <a:buFont typeface="Source Sans 3"/>
              <a:buNone/>
            </a:pPr>
            <a:r>
              <a:rPr b="0" i="0" lang="en-US" sz="1450" u="none" cap="none" strike="noStrike">
                <a:solidFill>
                  <a:srgbClr val="D6E5EF"/>
                </a:solidFill>
                <a:latin typeface="Source Sans 3"/>
                <a:ea typeface="Source Sans 3"/>
                <a:cs typeface="Source Sans 3"/>
                <a:sym typeface="Source Sans 3"/>
              </a:rPr>
              <a:t>React, Vite, and TypeScript provide a fast and responsive dashboard. Tailwind CSS is used for the UI, and Recharts displays real-time sensor data.</a:t>
            </a:r>
            <a:endParaRPr b="0" i="0" sz="1450" u="none" cap="none" strike="noStrike">
              <a:solidFill>
                <a:schemeClr val="dk1"/>
              </a:solidFill>
              <a:latin typeface="Calibri"/>
              <a:ea typeface="Calibri"/>
              <a:cs typeface="Calibri"/>
              <a:sym typeface="Calibri"/>
            </a:endParaRPr>
          </a:p>
        </p:txBody>
      </p:sp>
      <p:pic>
        <p:nvPicPr>
          <p:cNvPr descr="preencoded.png" id="54" name="Google Shape;54;p6"/>
          <p:cNvPicPr preferRelativeResize="0"/>
          <p:nvPr/>
        </p:nvPicPr>
        <p:blipFill rotWithShape="1">
          <a:blip r:embed="rId3">
            <a:alphaModFix/>
          </a:blip>
          <a:srcRect b="0" l="0" r="0" t="0"/>
          <a:stretch/>
        </p:blipFill>
        <p:spPr>
          <a:xfrm>
            <a:off x="698086" y="3100983"/>
            <a:ext cx="6331288" cy="1192907"/>
          </a:xfrm>
          <a:prstGeom prst="rect">
            <a:avLst/>
          </a:prstGeom>
          <a:noFill/>
          <a:ln>
            <a:noFill/>
          </a:ln>
        </p:spPr>
      </p:pic>
      <p:sp>
        <p:nvSpPr>
          <p:cNvPr id="55" name="Google Shape;55;p6"/>
          <p:cNvSpPr/>
          <p:nvPr/>
        </p:nvSpPr>
        <p:spPr>
          <a:xfrm>
            <a:off x="942852" y="3269555"/>
            <a:ext cx="5917953" cy="2199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350"/>
              <a:buFont typeface="Lora"/>
              <a:buNone/>
            </a:pPr>
            <a:r>
              <a:rPr b="0" i="0" lang="en-US" sz="1350" u="none" cap="none" strike="noStrike">
                <a:solidFill>
                  <a:srgbClr val="D6E5EF"/>
                </a:solidFill>
                <a:latin typeface="Lora"/>
                <a:ea typeface="Lora"/>
                <a:cs typeface="Lora"/>
                <a:sym typeface="Lora"/>
              </a:rPr>
              <a:t>APPLICATION LAYER</a:t>
            </a:r>
            <a:endParaRPr b="0" i="0" sz="1350" u="none" cap="none" strike="noStrike">
              <a:solidFill>
                <a:schemeClr val="dk1"/>
              </a:solidFill>
              <a:latin typeface="Calibri"/>
              <a:ea typeface="Calibri"/>
              <a:cs typeface="Calibri"/>
              <a:sym typeface="Calibri"/>
            </a:endParaRPr>
          </a:p>
        </p:txBody>
      </p:sp>
      <p:sp>
        <p:nvSpPr>
          <p:cNvPr id="56" name="Google Shape;56;p6"/>
          <p:cNvSpPr/>
          <p:nvPr/>
        </p:nvSpPr>
        <p:spPr>
          <a:xfrm>
            <a:off x="942852" y="3601641"/>
            <a:ext cx="5917953" cy="523677"/>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6E5EF"/>
              </a:buClr>
              <a:buSzPts val="1450"/>
              <a:buFont typeface="Source Sans 3"/>
              <a:buNone/>
            </a:pPr>
            <a:r>
              <a:rPr b="0" i="0" lang="en-US" sz="1450" u="none" cap="none" strike="noStrike">
                <a:solidFill>
                  <a:srgbClr val="D6E5EF"/>
                </a:solidFill>
                <a:latin typeface="Source Sans 3"/>
                <a:ea typeface="Source Sans 3"/>
                <a:cs typeface="Source Sans 3"/>
                <a:sym typeface="Source Sans 3"/>
              </a:rPr>
              <a:t>FastAPI processes prediction requests asynchronously. JWT authentication secures user access, and Motor enables efficient MongoDB communication.</a:t>
            </a:r>
            <a:endParaRPr b="0" i="0" sz="1450" u="none" cap="none" strike="noStrike">
              <a:solidFill>
                <a:schemeClr val="dk1"/>
              </a:solidFill>
              <a:latin typeface="Calibri"/>
              <a:ea typeface="Calibri"/>
              <a:cs typeface="Calibri"/>
              <a:sym typeface="Calibri"/>
            </a:endParaRPr>
          </a:p>
        </p:txBody>
      </p:sp>
      <p:pic>
        <p:nvPicPr>
          <p:cNvPr descr="preencoded.png" id="57" name="Google Shape;57;p6"/>
          <p:cNvPicPr preferRelativeResize="0"/>
          <p:nvPr/>
        </p:nvPicPr>
        <p:blipFill rotWithShape="1">
          <a:blip r:embed="rId3">
            <a:alphaModFix/>
          </a:blip>
          <a:srcRect b="0" l="0" r="0" t="0"/>
          <a:stretch/>
        </p:blipFill>
        <p:spPr>
          <a:xfrm>
            <a:off x="698086" y="4406007"/>
            <a:ext cx="6331288" cy="1192907"/>
          </a:xfrm>
          <a:prstGeom prst="rect">
            <a:avLst/>
          </a:prstGeom>
          <a:noFill/>
          <a:ln>
            <a:noFill/>
          </a:ln>
        </p:spPr>
      </p:pic>
      <p:sp>
        <p:nvSpPr>
          <p:cNvPr id="58" name="Google Shape;58;p6"/>
          <p:cNvSpPr/>
          <p:nvPr/>
        </p:nvSpPr>
        <p:spPr>
          <a:xfrm>
            <a:off x="942852" y="4574580"/>
            <a:ext cx="5917953" cy="2199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350"/>
              <a:buFont typeface="Lora"/>
              <a:buNone/>
            </a:pPr>
            <a:r>
              <a:rPr b="0" i="0" lang="en-US" sz="1350" u="none" cap="none" strike="noStrike">
                <a:solidFill>
                  <a:srgbClr val="D6E5EF"/>
                </a:solidFill>
                <a:latin typeface="Lora"/>
                <a:ea typeface="Lora"/>
                <a:cs typeface="Lora"/>
                <a:sym typeface="Lora"/>
              </a:rPr>
              <a:t>DATA &amp; ML LAYER</a:t>
            </a:r>
            <a:endParaRPr b="0" i="0" sz="1350" u="none" cap="none" strike="noStrike">
              <a:solidFill>
                <a:schemeClr val="dk1"/>
              </a:solidFill>
              <a:latin typeface="Calibri"/>
              <a:ea typeface="Calibri"/>
              <a:cs typeface="Calibri"/>
              <a:sym typeface="Calibri"/>
            </a:endParaRPr>
          </a:p>
        </p:txBody>
      </p:sp>
      <p:sp>
        <p:nvSpPr>
          <p:cNvPr id="59" name="Google Shape;59;p6"/>
          <p:cNvSpPr/>
          <p:nvPr/>
        </p:nvSpPr>
        <p:spPr>
          <a:xfrm>
            <a:off x="942852" y="4906665"/>
            <a:ext cx="5917953" cy="523677"/>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6E5EF"/>
              </a:buClr>
              <a:buSzPts val="1450"/>
              <a:buFont typeface="Source Sans 3"/>
              <a:buNone/>
            </a:pPr>
            <a:r>
              <a:rPr b="0" i="0" lang="en-US" sz="1450" u="none" cap="none" strike="noStrike">
                <a:solidFill>
                  <a:srgbClr val="D6E5EF"/>
                </a:solidFill>
                <a:latin typeface="Source Sans 3"/>
                <a:ea typeface="Source Sans 3"/>
                <a:cs typeface="Source Sans 3"/>
                <a:sym typeface="Source Sans 3"/>
              </a:rPr>
              <a:t>MongoDB stores machine and prediction data. LightGBM predicts machine failures, SHAP explains each prediction, and Docker supports deployment.</a:t>
            </a:r>
            <a:endParaRPr b="0" i="0" sz="1450" u="none" cap="none" strike="noStrike">
              <a:solidFill>
                <a:schemeClr val="dk1"/>
              </a:solidFill>
              <a:latin typeface="Calibri"/>
              <a:ea typeface="Calibri"/>
              <a:cs typeface="Calibri"/>
              <a:sym typeface="Calibri"/>
            </a:endParaRPr>
          </a:p>
        </p:txBody>
      </p:sp>
      <p:pic>
        <p:nvPicPr>
          <p:cNvPr descr="preencoded.png" id="60" name="Google Shape;60;p6"/>
          <p:cNvPicPr preferRelativeResize="0"/>
          <p:nvPr/>
        </p:nvPicPr>
        <p:blipFill rotWithShape="1">
          <a:blip r:embed="rId4">
            <a:alphaModFix/>
          </a:blip>
          <a:srcRect b="0" l="0" r="0" t="0"/>
          <a:stretch/>
        </p:blipFill>
        <p:spPr>
          <a:xfrm>
            <a:off x="7403319" y="1795959"/>
            <a:ext cx="4093862" cy="3249811"/>
          </a:xfrm>
          <a:prstGeom prst="rect">
            <a:avLst/>
          </a:prstGeom>
          <a:noFill/>
          <a:ln>
            <a:noFill/>
          </a:ln>
        </p:spPr>
      </p:pic>
      <p:sp>
        <p:nvSpPr>
          <p:cNvPr id="61" name="Google Shape;61;p6"/>
          <p:cNvSpPr/>
          <p:nvPr/>
        </p:nvSpPr>
        <p:spPr>
          <a:xfrm>
            <a:off x="9077017" y="3248059"/>
            <a:ext cx="735686" cy="31645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000000"/>
              </a:buClr>
              <a:buSzPts val="950"/>
              <a:buFont typeface="Lora"/>
              <a:buNone/>
            </a:pPr>
            <a:r>
              <a:rPr b="0" i="0" lang="en-US" sz="950" u="none" cap="none" strike="noStrike">
                <a:solidFill>
                  <a:srgbClr val="000000"/>
                </a:solidFill>
                <a:latin typeface="Lora"/>
                <a:ea typeface="Lora"/>
                <a:cs typeface="Lora"/>
                <a:sym typeface="Lora"/>
              </a:rPr>
              <a:t>Prediction Pipeline</a:t>
            </a:r>
            <a:endParaRPr b="0" i="0" sz="950" u="none" cap="none" strike="noStrike">
              <a:solidFill>
                <a:schemeClr val="dk1"/>
              </a:solidFill>
              <a:latin typeface="Calibri"/>
              <a:ea typeface="Calibri"/>
              <a:cs typeface="Calibri"/>
              <a:sym typeface="Calibri"/>
            </a:endParaRPr>
          </a:p>
        </p:txBody>
      </p:sp>
      <p:sp>
        <p:nvSpPr>
          <p:cNvPr id="62" name="Google Shape;62;p6"/>
          <p:cNvSpPr/>
          <p:nvPr/>
        </p:nvSpPr>
        <p:spPr>
          <a:xfrm>
            <a:off x="9800741" y="2129735"/>
            <a:ext cx="1094465" cy="158225"/>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D6E5EF"/>
              </a:buClr>
              <a:buSzPts val="950"/>
              <a:buFont typeface="Lora"/>
              <a:buNone/>
            </a:pPr>
            <a:r>
              <a:rPr b="0" i="0" lang="en-US" sz="950" u="none" cap="none" strike="noStrike">
                <a:solidFill>
                  <a:srgbClr val="D6E5EF"/>
                </a:solidFill>
                <a:latin typeface="Lora"/>
                <a:ea typeface="Lora"/>
                <a:cs typeface="Lora"/>
                <a:sym typeface="Lora"/>
              </a:rPr>
              <a:t>User</a:t>
            </a:r>
            <a:endParaRPr b="0" i="0" sz="950" u="none" cap="none" strike="noStrike">
              <a:solidFill>
                <a:schemeClr val="dk1"/>
              </a:solidFill>
              <a:latin typeface="Calibri"/>
              <a:ea typeface="Calibri"/>
              <a:cs typeface="Calibri"/>
              <a:sym typeface="Calibri"/>
            </a:endParaRPr>
          </a:p>
        </p:txBody>
      </p:sp>
      <p:sp>
        <p:nvSpPr>
          <p:cNvPr id="63" name="Google Shape;63;p6"/>
          <p:cNvSpPr/>
          <p:nvPr/>
        </p:nvSpPr>
        <p:spPr>
          <a:xfrm>
            <a:off x="9800741" y="2335811"/>
            <a:ext cx="1094465" cy="235515"/>
          </a:xfrm>
          <a:prstGeom prst="rect">
            <a:avLst/>
          </a:prstGeom>
          <a:noFill/>
          <a:ln>
            <a:noFill/>
          </a:ln>
        </p:spPr>
        <p:txBody>
          <a:bodyPr anchorCtr="0" anchor="t" bIns="0" lIns="0" spcFirstLastPara="1" rIns="0" wrap="square" tIns="0">
            <a:noAutofit/>
          </a:bodyPr>
          <a:lstStyle/>
          <a:p>
            <a:pPr indent="0" lvl="0" marL="0" marR="0" rtl="0" algn="ctr">
              <a:lnSpc>
                <a:spcPct val="91000"/>
              </a:lnSpc>
              <a:spcBef>
                <a:spcPts val="0"/>
              </a:spcBef>
              <a:spcAft>
                <a:spcPts val="0"/>
              </a:spcAft>
              <a:buClr>
                <a:srgbClr val="D6E5EF"/>
              </a:buClr>
              <a:buSzPts val="800"/>
              <a:buFont typeface="Source Sans 3"/>
              <a:buNone/>
            </a:pPr>
            <a:r>
              <a:rPr b="0" i="0" lang="en-US" sz="800" u="none" cap="none" strike="noStrike">
                <a:solidFill>
                  <a:srgbClr val="D6E5EF"/>
                </a:solidFill>
                <a:latin typeface="Source Sans 3"/>
                <a:ea typeface="Source Sans 3"/>
                <a:cs typeface="Source Sans 3"/>
                <a:sym typeface="Source Sans 3"/>
              </a:rPr>
              <a:t>Initiates request via dashboard</a:t>
            </a:r>
            <a:endParaRPr b="0" i="0" sz="800" u="none" cap="none" strike="noStrike">
              <a:solidFill>
                <a:schemeClr val="dk1"/>
              </a:solidFill>
              <a:latin typeface="Calibri"/>
              <a:ea typeface="Calibri"/>
              <a:cs typeface="Calibri"/>
              <a:sym typeface="Calibri"/>
            </a:endParaRPr>
          </a:p>
        </p:txBody>
      </p:sp>
      <p:sp>
        <p:nvSpPr>
          <p:cNvPr id="64" name="Google Shape;64;p6"/>
          <p:cNvSpPr/>
          <p:nvPr/>
        </p:nvSpPr>
        <p:spPr>
          <a:xfrm>
            <a:off x="7976476" y="2129735"/>
            <a:ext cx="1094466" cy="158225"/>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D6E5EF"/>
              </a:buClr>
              <a:buSzPts val="950"/>
              <a:buFont typeface="Lora"/>
              <a:buNone/>
            </a:pPr>
            <a:r>
              <a:rPr b="0" i="0" lang="en-US" sz="950" u="none" cap="none" strike="noStrike">
                <a:solidFill>
                  <a:srgbClr val="D6E5EF"/>
                </a:solidFill>
                <a:latin typeface="Lora"/>
                <a:ea typeface="Lora"/>
                <a:cs typeface="Lora"/>
                <a:sym typeface="Lora"/>
              </a:rPr>
              <a:t>Prediction Results</a:t>
            </a:r>
            <a:endParaRPr b="0" i="0" sz="950" u="none" cap="none" strike="noStrike">
              <a:solidFill>
                <a:schemeClr val="dk1"/>
              </a:solidFill>
              <a:latin typeface="Calibri"/>
              <a:ea typeface="Calibri"/>
              <a:cs typeface="Calibri"/>
              <a:sym typeface="Calibri"/>
            </a:endParaRPr>
          </a:p>
        </p:txBody>
      </p:sp>
      <p:sp>
        <p:nvSpPr>
          <p:cNvPr id="65" name="Google Shape;65;p6"/>
          <p:cNvSpPr/>
          <p:nvPr/>
        </p:nvSpPr>
        <p:spPr>
          <a:xfrm>
            <a:off x="7976476" y="2335811"/>
            <a:ext cx="1094466" cy="235515"/>
          </a:xfrm>
          <a:prstGeom prst="rect">
            <a:avLst/>
          </a:prstGeom>
          <a:noFill/>
          <a:ln>
            <a:noFill/>
          </a:ln>
        </p:spPr>
        <p:txBody>
          <a:bodyPr anchorCtr="0" anchor="t" bIns="0" lIns="0" spcFirstLastPara="1" rIns="0" wrap="square" tIns="0">
            <a:noAutofit/>
          </a:bodyPr>
          <a:lstStyle/>
          <a:p>
            <a:pPr indent="0" lvl="0" marL="0" marR="0" rtl="0" algn="ctr">
              <a:lnSpc>
                <a:spcPct val="91000"/>
              </a:lnSpc>
              <a:spcBef>
                <a:spcPts val="0"/>
              </a:spcBef>
              <a:spcAft>
                <a:spcPts val="0"/>
              </a:spcAft>
              <a:buClr>
                <a:srgbClr val="D6E5EF"/>
              </a:buClr>
              <a:buSzPts val="800"/>
              <a:buFont typeface="Source Sans 3"/>
              <a:buNone/>
            </a:pPr>
            <a:r>
              <a:rPr b="0" i="0" lang="en-US" sz="800" u="none" cap="none" strike="noStrike">
                <a:solidFill>
                  <a:srgbClr val="D6E5EF"/>
                </a:solidFill>
                <a:latin typeface="Source Sans 3"/>
                <a:ea typeface="Source Sans 3"/>
                <a:cs typeface="Source Sans 3"/>
                <a:sym typeface="Source Sans 3"/>
              </a:rPr>
              <a:t>Returned to UI with insights</a:t>
            </a:r>
            <a:endParaRPr b="0" i="0" sz="800" u="none" cap="none" strike="noStrike">
              <a:solidFill>
                <a:schemeClr val="dk1"/>
              </a:solidFill>
              <a:latin typeface="Calibri"/>
              <a:ea typeface="Calibri"/>
              <a:cs typeface="Calibri"/>
              <a:sym typeface="Calibri"/>
            </a:endParaRPr>
          </a:p>
        </p:txBody>
      </p:sp>
      <p:sp>
        <p:nvSpPr>
          <p:cNvPr id="66" name="Google Shape;66;p6"/>
          <p:cNvSpPr/>
          <p:nvPr/>
        </p:nvSpPr>
        <p:spPr>
          <a:xfrm>
            <a:off x="7976476" y="4265075"/>
            <a:ext cx="1094466" cy="158225"/>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D6E5EF"/>
              </a:buClr>
              <a:buSzPts val="950"/>
              <a:buFont typeface="Lora"/>
              <a:buNone/>
            </a:pPr>
            <a:r>
              <a:rPr b="0" i="0" lang="en-US" sz="950" u="none" cap="none" strike="noStrike">
                <a:solidFill>
                  <a:srgbClr val="D6E5EF"/>
                </a:solidFill>
                <a:latin typeface="Lora"/>
                <a:ea typeface="Lora"/>
                <a:cs typeface="Lora"/>
                <a:sym typeface="Lora"/>
              </a:rPr>
              <a:t>MongoDB</a:t>
            </a:r>
            <a:endParaRPr b="0" i="0" sz="950" u="none" cap="none" strike="noStrike">
              <a:solidFill>
                <a:schemeClr val="dk1"/>
              </a:solidFill>
              <a:latin typeface="Calibri"/>
              <a:ea typeface="Calibri"/>
              <a:cs typeface="Calibri"/>
              <a:sym typeface="Calibri"/>
            </a:endParaRPr>
          </a:p>
        </p:txBody>
      </p:sp>
      <p:sp>
        <p:nvSpPr>
          <p:cNvPr id="67" name="Google Shape;67;p6"/>
          <p:cNvSpPr/>
          <p:nvPr/>
        </p:nvSpPr>
        <p:spPr>
          <a:xfrm>
            <a:off x="7976476" y="4471150"/>
            <a:ext cx="1094466" cy="235516"/>
          </a:xfrm>
          <a:prstGeom prst="rect">
            <a:avLst/>
          </a:prstGeom>
          <a:noFill/>
          <a:ln>
            <a:noFill/>
          </a:ln>
        </p:spPr>
        <p:txBody>
          <a:bodyPr anchorCtr="0" anchor="t" bIns="0" lIns="0" spcFirstLastPara="1" rIns="0" wrap="square" tIns="0">
            <a:noAutofit/>
          </a:bodyPr>
          <a:lstStyle/>
          <a:p>
            <a:pPr indent="0" lvl="0" marL="0" marR="0" rtl="0" algn="ctr">
              <a:lnSpc>
                <a:spcPct val="91000"/>
              </a:lnSpc>
              <a:spcBef>
                <a:spcPts val="0"/>
              </a:spcBef>
              <a:spcAft>
                <a:spcPts val="0"/>
              </a:spcAft>
              <a:buClr>
                <a:srgbClr val="D6E5EF"/>
              </a:buClr>
              <a:buSzPts val="800"/>
              <a:buFont typeface="Source Sans 3"/>
              <a:buNone/>
            </a:pPr>
            <a:r>
              <a:rPr b="0" i="0" lang="en-US" sz="800" u="none" cap="none" strike="noStrike">
                <a:solidFill>
                  <a:srgbClr val="D6E5EF"/>
                </a:solidFill>
                <a:latin typeface="Source Sans 3"/>
                <a:ea typeface="Source Sans 3"/>
                <a:cs typeface="Source Sans 3"/>
                <a:sym typeface="Source Sans 3"/>
              </a:rPr>
              <a:t>Stores features &amp; metadata</a:t>
            </a:r>
            <a:endParaRPr b="0" i="0" sz="800" u="none" cap="none" strike="noStrike">
              <a:solidFill>
                <a:schemeClr val="dk1"/>
              </a:solidFill>
              <a:latin typeface="Calibri"/>
              <a:ea typeface="Calibri"/>
              <a:cs typeface="Calibri"/>
              <a:sym typeface="Calibri"/>
            </a:endParaRPr>
          </a:p>
        </p:txBody>
      </p:sp>
      <p:sp>
        <p:nvSpPr>
          <p:cNvPr id="68" name="Google Shape;68;p6"/>
          <p:cNvSpPr/>
          <p:nvPr/>
        </p:nvSpPr>
        <p:spPr>
          <a:xfrm>
            <a:off x="9800741" y="4265075"/>
            <a:ext cx="1094465" cy="158225"/>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D6E5EF"/>
              </a:buClr>
              <a:buSzPts val="950"/>
              <a:buFont typeface="Lora"/>
              <a:buNone/>
            </a:pPr>
            <a:r>
              <a:rPr b="0" i="0" lang="en-US" sz="950" u="none" cap="none" strike="noStrike">
                <a:solidFill>
                  <a:srgbClr val="D6E5EF"/>
                </a:solidFill>
                <a:latin typeface="Lora"/>
                <a:ea typeface="Lora"/>
                <a:cs typeface="Lora"/>
                <a:sym typeface="Lora"/>
              </a:rPr>
              <a:t>FastAPI Backend</a:t>
            </a:r>
            <a:endParaRPr b="0" i="0" sz="950" u="none" cap="none" strike="noStrike">
              <a:solidFill>
                <a:schemeClr val="dk1"/>
              </a:solidFill>
              <a:latin typeface="Calibri"/>
              <a:ea typeface="Calibri"/>
              <a:cs typeface="Calibri"/>
              <a:sym typeface="Calibri"/>
            </a:endParaRPr>
          </a:p>
        </p:txBody>
      </p:sp>
      <p:sp>
        <p:nvSpPr>
          <p:cNvPr id="69" name="Google Shape;69;p6"/>
          <p:cNvSpPr/>
          <p:nvPr/>
        </p:nvSpPr>
        <p:spPr>
          <a:xfrm>
            <a:off x="9800741" y="4471150"/>
            <a:ext cx="1094465" cy="235516"/>
          </a:xfrm>
          <a:prstGeom prst="rect">
            <a:avLst/>
          </a:prstGeom>
          <a:noFill/>
          <a:ln>
            <a:noFill/>
          </a:ln>
        </p:spPr>
        <p:txBody>
          <a:bodyPr anchorCtr="0" anchor="t" bIns="0" lIns="0" spcFirstLastPara="1" rIns="0" wrap="square" tIns="0">
            <a:noAutofit/>
          </a:bodyPr>
          <a:lstStyle/>
          <a:p>
            <a:pPr indent="0" lvl="0" marL="0" marR="0" rtl="0" algn="ctr">
              <a:lnSpc>
                <a:spcPct val="91000"/>
              </a:lnSpc>
              <a:spcBef>
                <a:spcPts val="0"/>
              </a:spcBef>
              <a:spcAft>
                <a:spcPts val="0"/>
              </a:spcAft>
              <a:buClr>
                <a:srgbClr val="D6E5EF"/>
              </a:buClr>
              <a:buSzPts val="800"/>
              <a:buFont typeface="Source Sans 3"/>
              <a:buNone/>
            </a:pPr>
            <a:r>
              <a:rPr b="0" i="0" lang="en-US" sz="800" u="none" cap="none" strike="noStrike">
                <a:solidFill>
                  <a:srgbClr val="D6E5EF"/>
                </a:solidFill>
                <a:latin typeface="Source Sans 3"/>
                <a:ea typeface="Source Sans 3"/>
                <a:cs typeface="Source Sans 3"/>
                <a:sym typeface="Source Sans 3"/>
              </a:rPr>
              <a:t>Handles API and validation</a:t>
            </a:r>
            <a:endParaRPr b="0" i="0" sz="800" u="none" cap="none" strike="noStrike">
              <a:solidFill>
                <a:schemeClr val="dk1"/>
              </a:solidFill>
              <a:latin typeface="Calibri"/>
              <a:ea typeface="Calibri"/>
              <a:cs typeface="Calibri"/>
              <a:sym typeface="Calibri"/>
            </a:endParaRPr>
          </a:p>
        </p:txBody>
      </p:sp>
      <p:sp>
        <p:nvSpPr>
          <p:cNvPr id="70" name="Google Shape;70;p6"/>
          <p:cNvSpPr/>
          <p:nvPr/>
        </p:nvSpPr>
        <p:spPr>
          <a:xfrm>
            <a:off x="10195499" y="3241330"/>
            <a:ext cx="1118391" cy="158225"/>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D6E5EF"/>
              </a:buClr>
              <a:buSzPts val="950"/>
              <a:buFont typeface="Lora"/>
              <a:buNone/>
            </a:pPr>
            <a:r>
              <a:rPr b="0" i="0" lang="en-US" sz="950" u="none" cap="none" strike="noStrike">
                <a:solidFill>
                  <a:srgbClr val="D6E5EF"/>
                </a:solidFill>
                <a:latin typeface="Lora"/>
                <a:ea typeface="Lora"/>
                <a:cs typeface="Lora"/>
                <a:sym typeface="Lora"/>
              </a:rPr>
              <a:t>React Frontend</a:t>
            </a:r>
            <a:endParaRPr b="0" i="0" sz="950" u="none" cap="none" strike="noStrike">
              <a:solidFill>
                <a:schemeClr val="dk1"/>
              </a:solidFill>
              <a:latin typeface="Calibri"/>
              <a:ea typeface="Calibri"/>
              <a:cs typeface="Calibri"/>
              <a:sym typeface="Calibri"/>
            </a:endParaRPr>
          </a:p>
        </p:txBody>
      </p:sp>
      <p:sp>
        <p:nvSpPr>
          <p:cNvPr id="71" name="Google Shape;71;p6"/>
          <p:cNvSpPr/>
          <p:nvPr/>
        </p:nvSpPr>
        <p:spPr>
          <a:xfrm>
            <a:off x="10195499" y="3447406"/>
            <a:ext cx="1118391" cy="117758"/>
          </a:xfrm>
          <a:prstGeom prst="rect">
            <a:avLst/>
          </a:prstGeom>
          <a:noFill/>
          <a:ln>
            <a:noFill/>
          </a:ln>
        </p:spPr>
        <p:txBody>
          <a:bodyPr anchorCtr="0" anchor="t" bIns="0" lIns="0" spcFirstLastPara="1" rIns="0" wrap="square" tIns="0">
            <a:noAutofit/>
          </a:bodyPr>
          <a:lstStyle/>
          <a:p>
            <a:pPr indent="0" lvl="0" marL="0" marR="0" rtl="0" algn="ctr">
              <a:lnSpc>
                <a:spcPct val="91000"/>
              </a:lnSpc>
              <a:spcBef>
                <a:spcPts val="0"/>
              </a:spcBef>
              <a:spcAft>
                <a:spcPts val="0"/>
              </a:spcAft>
              <a:buClr>
                <a:srgbClr val="D6E5EF"/>
              </a:buClr>
              <a:buSzPts val="800"/>
              <a:buFont typeface="Source Sans 3"/>
              <a:buNone/>
            </a:pPr>
            <a:r>
              <a:rPr b="0" i="0" lang="en-US" sz="800" u="none" cap="none" strike="noStrike">
                <a:solidFill>
                  <a:srgbClr val="D6E5EF"/>
                </a:solidFill>
                <a:latin typeface="Source Sans 3"/>
                <a:ea typeface="Source Sans 3"/>
                <a:cs typeface="Source Sans 3"/>
                <a:sym typeface="Source Sans 3"/>
              </a:rPr>
              <a:t>Vite + TypeScript UI</a:t>
            </a:r>
            <a:endParaRPr b="0" i="0" sz="800" u="none" cap="none" strike="noStrike">
              <a:solidFill>
                <a:schemeClr val="dk1"/>
              </a:solidFill>
              <a:latin typeface="Calibri"/>
              <a:ea typeface="Calibri"/>
              <a:cs typeface="Calibri"/>
              <a:sym typeface="Calibri"/>
            </a:endParaRPr>
          </a:p>
        </p:txBody>
      </p:sp>
      <p:sp>
        <p:nvSpPr>
          <p:cNvPr id="72" name="Google Shape;72;p6"/>
          <p:cNvSpPr/>
          <p:nvPr/>
        </p:nvSpPr>
        <p:spPr>
          <a:xfrm>
            <a:off x="7575736" y="3188433"/>
            <a:ext cx="1118390" cy="158225"/>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D6E5EF"/>
              </a:buClr>
              <a:buSzPts val="950"/>
              <a:buFont typeface="Lora"/>
              <a:buNone/>
            </a:pPr>
            <a:r>
              <a:rPr b="0" i="0" lang="en-US" sz="950" u="none" cap="none" strike="noStrike">
                <a:solidFill>
                  <a:srgbClr val="D6E5EF"/>
                </a:solidFill>
                <a:latin typeface="Lora"/>
                <a:ea typeface="Lora"/>
                <a:cs typeface="Lora"/>
                <a:sym typeface="Lora"/>
              </a:rPr>
              <a:t>LightGBM + SHAP</a:t>
            </a:r>
            <a:endParaRPr b="0" i="0" sz="950" u="none" cap="none" strike="noStrike">
              <a:solidFill>
                <a:schemeClr val="dk1"/>
              </a:solidFill>
              <a:latin typeface="Calibri"/>
              <a:ea typeface="Calibri"/>
              <a:cs typeface="Calibri"/>
              <a:sym typeface="Calibri"/>
            </a:endParaRPr>
          </a:p>
        </p:txBody>
      </p:sp>
      <p:sp>
        <p:nvSpPr>
          <p:cNvPr id="73" name="Google Shape;73;p6"/>
          <p:cNvSpPr/>
          <p:nvPr/>
        </p:nvSpPr>
        <p:spPr>
          <a:xfrm>
            <a:off x="7575736" y="3394509"/>
            <a:ext cx="1118390" cy="235515"/>
          </a:xfrm>
          <a:prstGeom prst="rect">
            <a:avLst/>
          </a:prstGeom>
          <a:noFill/>
          <a:ln>
            <a:noFill/>
          </a:ln>
        </p:spPr>
        <p:txBody>
          <a:bodyPr anchorCtr="0" anchor="t" bIns="0" lIns="0" spcFirstLastPara="1" rIns="0" wrap="square" tIns="0">
            <a:noAutofit/>
          </a:bodyPr>
          <a:lstStyle/>
          <a:p>
            <a:pPr indent="0" lvl="0" marL="0" marR="0" rtl="0" algn="ctr">
              <a:lnSpc>
                <a:spcPct val="91000"/>
              </a:lnSpc>
              <a:spcBef>
                <a:spcPts val="0"/>
              </a:spcBef>
              <a:spcAft>
                <a:spcPts val="0"/>
              </a:spcAft>
              <a:buClr>
                <a:srgbClr val="D6E5EF"/>
              </a:buClr>
              <a:buSzPts val="800"/>
              <a:buFont typeface="Source Sans 3"/>
              <a:buNone/>
            </a:pPr>
            <a:r>
              <a:rPr b="0" i="0" lang="en-US" sz="800" u="none" cap="none" strike="noStrike">
                <a:solidFill>
                  <a:srgbClr val="D6E5EF"/>
                </a:solidFill>
                <a:latin typeface="Source Sans 3"/>
                <a:ea typeface="Source Sans 3"/>
                <a:cs typeface="Source Sans 3"/>
                <a:sym typeface="Source Sans 3"/>
              </a:rPr>
              <a:t>Model inference and explainability</a:t>
            </a:r>
            <a:endParaRPr b="0" i="0" sz="800" u="none" cap="none" strike="noStrike">
              <a:solidFill>
                <a:schemeClr val="dk1"/>
              </a:solidFill>
              <a:latin typeface="Calibri"/>
              <a:ea typeface="Calibri"/>
              <a:cs typeface="Calibri"/>
              <a:sym typeface="Calibri"/>
            </a:endParaRPr>
          </a:p>
        </p:txBody>
      </p:sp>
      <p:sp>
        <p:nvSpPr>
          <p:cNvPr id="74" name="Google Shape;74;p6"/>
          <p:cNvSpPr/>
          <p:nvPr/>
        </p:nvSpPr>
        <p:spPr>
          <a:xfrm>
            <a:off x="7400641" y="5171976"/>
            <a:ext cx="4099219" cy="523677"/>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6E5EF"/>
              </a:buClr>
              <a:buSzPts val="1450"/>
              <a:buFont typeface="Source Sans 3"/>
              <a:buNone/>
            </a:pPr>
            <a:r>
              <a:rPr b="0" i="0" lang="en-US" sz="1450" u="none" cap="none" strike="noStrike">
                <a:solidFill>
                  <a:srgbClr val="D6E5EF"/>
                </a:solidFill>
                <a:latin typeface="Source Sans 3"/>
                <a:ea typeface="Source Sans 3"/>
                <a:cs typeface="Source Sans 3"/>
                <a:sym typeface="Source Sans 3"/>
              </a:rPr>
              <a:t>Flow of user requests through the system stack to prediction output and explainability.</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descr="preencoded.png" id="80" name="Google Shape;80;p7"/>
          <p:cNvPicPr preferRelativeResize="0"/>
          <p:nvPr/>
        </p:nvPicPr>
        <p:blipFill rotWithShape="1">
          <a:blip r:embed="rId3">
            <a:alphaModFix/>
          </a:blip>
          <a:srcRect b="0" l="0" r="0" t="0"/>
          <a:stretch/>
        </p:blipFill>
        <p:spPr>
          <a:xfrm>
            <a:off x="9143771" y="0"/>
            <a:ext cx="3047924" cy="6858000"/>
          </a:xfrm>
          <a:prstGeom prst="rect">
            <a:avLst/>
          </a:prstGeom>
          <a:noFill/>
          <a:ln>
            <a:noFill/>
          </a:ln>
        </p:spPr>
      </p:pic>
      <p:sp>
        <p:nvSpPr>
          <p:cNvPr id="81" name="Google Shape;81;p7"/>
          <p:cNvSpPr/>
          <p:nvPr/>
        </p:nvSpPr>
        <p:spPr>
          <a:xfrm>
            <a:off x="698086" y="615057"/>
            <a:ext cx="7747600" cy="44003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98AC7"/>
              </a:buClr>
              <a:buSzPts val="2750"/>
              <a:buFont typeface="Lora"/>
              <a:buNone/>
            </a:pPr>
            <a:r>
              <a:rPr b="0" i="0" lang="en-US" sz="2750" u="none" cap="none" strike="noStrike">
                <a:solidFill>
                  <a:srgbClr val="F98AC7"/>
                </a:solidFill>
                <a:latin typeface="Lora"/>
                <a:ea typeface="Lora"/>
                <a:cs typeface="Lora"/>
                <a:sym typeface="Lora"/>
              </a:rPr>
              <a:t>MACHINE LEARNING ENGINE</a:t>
            </a:r>
            <a:endParaRPr b="0" i="0" sz="2750" u="none" cap="none" strike="noStrike">
              <a:solidFill>
                <a:schemeClr val="dk1"/>
              </a:solidFill>
              <a:latin typeface="Calibri"/>
              <a:ea typeface="Calibri"/>
              <a:cs typeface="Calibri"/>
              <a:sym typeface="Calibri"/>
            </a:endParaRPr>
          </a:p>
        </p:txBody>
      </p:sp>
      <p:pic>
        <p:nvPicPr>
          <p:cNvPr descr="preencoded.png" id="82" name="Google Shape;82;p7"/>
          <p:cNvPicPr preferRelativeResize="0"/>
          <p:nvPr/>
        </p:nvPicPr>
        <p:blipFill rotWithShape="1">
          <a:blip r:embed="rId4">
            <a:alphaModFix/>
          </a:blip>
          <a:srcRect b="0" l="0" r="0" t="0"/>
          <a:stretch/>
        </p:blipFill>
        <p:spPr>
          <a:xfrm>
            <a:off x="698086" y="1223367"/>
            <a:ext cx="7747600" cy="1933575"/>
          </a:xfrm>
          <a:prstGeom prst="rect">
            <a:avLst/>
          </a:prstGeom>
          <a:noFill/>
          <a:ln>
            <a:noFill/>
          </a:ln>
        </p:spPr>
      </p:pic>
      <p:sp>
        <p:nvSpPr>
          <p:cNvPr id="83" name="Google Shape;83;p7"/>
          <p:cNvSpPr/>
          <p:nvPr/>
        </p:nvSpPr>
        <p:spPr>
          <a:xfrm>
            <a:off x="942852" y="1391940"/>
            <a:ext cx="7334265" cy="2199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350"/>
              <a:buFont typeface="Lora"/>
              <a:buNone/>
            </a:pPr>
            <a:r>
              <a:rPr b="0" i="0" lang="en-US" sz="1350" u="none" cap="none" strike="noStrike">
                <a:solidFill>
                  <a:srgbClr val="D6E5EF"/>
                </a:solidFill>
                <a:latin typeface="Lora"/>
                <a:ea typeface="Lora"/>
                <a:cs typeface="Lora"/>
                <a:sym typeface="Lora"/>
              </a:rPr>
              <a:t>MULTI-MODEL MACHINE LEARNING ENGINE</a:t>
            </a:r>
            <a:endParaRPr b="0" i="0" sz="1350" u="none" cap="none" strike="noStrike">
              <a:solidFill>
                <a:schemeClr val="dk1"/>
              </a:solidFill>
              <a:latin typeface="Calibri"/>
              <a:ea typeface="Calibri"/>
              <a:cs typeface="Calibri"/>
              <a:sym typeface="Calibri"/>
            </a:endParaRPr>
          </a:p>
        </p:txBody>
      </p:sp>
      <p:sp>
        <p:nvSpPr>
          <p:cNvPr id="84" name="Google Shape;84;p7"/>
          <p:cNvSpPr/>
          <p:nvPr/>
        </p:nvSpPr>
        <p:spPr>
          <a:xfrm>
            <a:off x="942852" y="1679178"/>
            <a:ext cx="7334265" cy="1309191"/>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6E5EF"/>
              </a:buClr>
              <a:buSzPts val="1450"/>
              <a:buFont typeface="Source Sans 3"/>
              <a:buNone/>
            </a:pPr>
            <a:r>
              <a:rPr b="0" i="0" lang="en-US" sz="1450" u="none" cap="none" strike="noStrike">
                <a:solidFill>
                  <a:srgbClr val="D6E5EF"/>
                </a:solidFill>
                <a:latin typeface="Source Sans 3"/>
                <a:ea typeface="Source Sans 3"/>
                <a:cs typeface="Source Sans 3"/>
                <a:sym typeface="Source Sans 3"/>
              </a:rPr>
              <a:t>The system evaluates and compares 13 machine learning algorithms, including LightGBM, XGBoost, CatBoost, Random Forest, Extra Trees, Gradient Boosting, Decision Tree, MLP, KNN, AdaBoost, SVM, Logistic Regression, and Naive Bayes. The training pipeline automatically preprocesses the AI4I 2020 Predictive Maintenance Dataset by performing scaling, one-hot encoding, and outlier handling before model evaluation.</a:t>
            </a:r>
            <a:endParaRPr b="0" i="0" sz="1450" u="none" cap="none" strike="noStrike">
              <a:solidFill>
                <a:schemeClr val="dk1"/>
              </a:solidFill>
              <a:latin typeface="Calibri"/>
              <a:ea typeface="Calibri"/>
              <a:cs typeface="Calibri"/>
              <a:sym typeface="Calibri"/>
            </a:endParaRPr>
          </a:p>
        </p:txBody>
      </p:sp>
      <p:pic>
        <p:nvPicPr>
          <p:cNvPr descr="preencoded.png" id="85" name="Google Shape;85;p7"/>
          <p:cNvPicPr preferRelativeResize="0"/>
          <p:nvPr/>
        </p:nvPicPr>
        <p:blipFill rotWithShape="1">
          <a:blip r:embed="rId5">
            <a:alphaModFix/>
          </a:blip>
          <a:srcRect b="0" l="0" r="0" t="0"/>
          <a:stretch/>
        </p:blipFill>
        <p:spPr>
          <a:xfrm>
            <a:off x="698086" y="3269059"/>
            <a:ext cx="7747600" cy="1451769"/>
          </a:xfrm>
          <a:prstGeom prst="rect">
            <a:avLst/>
          </a:prstGeom>
          <a:noFill/>
          <a:ln>
            <a:noFill/>
          </a:ln>
        </p:spPr>
      </p:pic>
      <p:sp>
        <p:nvSpPr>
          <p:cNvPr id="86" name="Google Shape;86;p7"/>
          <p:cNvSpPr/>
          <p:nvPr/>
        </p:nvSpPr>
        <p:spPr>
          <a:xfrm>
            <a:off x="942852" y="3437632"/>
            <a:ext cx="7334265" cy="1114623"/>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6E5EF"/>
              </a:buClr>
              <a:buSzPts val="1450"/>
              <a:buFont typeface="Source Sans 3"/>
              <a:buNone/>
            </a:pPr>
            <a:r>
              <a:rPr b="0" i="0" lang="en-US" sz="1450" u="none" cap="none" strike="noStrike">
                <a:solidFill>
                  <a:srgbClr val="D6E5EF"/>
                </a:solidFill>
                <a:latin typeface="Source Sans 3"/>
                <a:ea typeface="Source Sans 3"/>
                <a:cs typeface="Source Sans 3"/>
                <a:sym typeface="Source Sans 3"/>
              </a:rPr>
              <a:t>DUAL-STAGE FAILURE PREDICTION</a:t>
            </a:r>
            <a:endParaRPr b="0" i="0" sz="1450" u="none" cap="none" strike="noStrike">
              <a:solidFill>
                <a:schemeClr val="dk1"/>
              </a:solidFill>
              <a:latin typeface="Calibri"/>
              <a:ea typeface="Calibri"/>
              <a:cs typeface="Calibri"/>
              <a:sym typeface="Calibri"/>
            </a:endParaRPr>
          </a:p>
          <a:p>
            <a:pPr indent="0" lvl="0" marL="0" marR="0" rtl="0" algn="l">
              <a:lnSpc>
                <a:spcPct val="117000"/>
              </a:lnSpc>
              <a:spcBef>
                <a:spcPts val="500"/>
              </a:spcBef>
              <a:spcAft>
                <a:spcPts val="0"/>
              </a:spcAft>
              <a:buClr>
                <a:srgbClr val="D6E5EF"/>
              </a:buClr>
              <a:buSzPts val="1450"/>
              <a:buFont typeface="Source Sans 3"/>
              <a:buNone/>
            </a:pPr>
            <a:r>
              <a:rPr b="0" i="0" lang="en-US" sz="1450" u="none" cap="none" strike="noStrike">
                <a:solidFill>
                  <a:srgbClr val="D6E5EF"/>
                </a:solidFill>
                <a:latin typeface="Source Sans 3"/>
                <a:ea typeface="Source Sans 3"/>
                <a:cs typeface="Source Sans 3"/>
                <a:sym typeface="Source Sans 3"/>
              </a:rPr>
              <a:t>Stage 1 predicts whether a machine failure is likely to occur. Stage 2 classifies the specific failure mode as Tool Wear Failure (TWF), Heat Dissipation Failure (HDF), Power Failure (PWF), Overstrain Failure (OSF), or Random Failure (RNF).</a:t>
            </a:r>
            <a:endParaRPr b="0" i="0" sz="1450" u="none" cap="none" strike="noStrike">
              <a:solidFill>
                <a:schemeClr val="dk1"/>
              </a:solidFill>
              <a:latin typeface="Calibri"/>
              <a:ea typeface="Calibri"/>
              <a:cs typeface="Calibri"/>
              <a:sym typeface="Calibri"/>
            </a:endParaRPr>
          </a:p>
        </p:txBody>
      </p:sp>
      <p:pic>
        <p:nvPicPr>
          <p:cNvPr descr="preencoded.png" id="87" name="Google Shape;87;p7"/>
          <p:cNvPicPr preferRelativeResize="0"/>
          <p:nvPr/>
        </p:nvPicPr>
        <p:blipFill rotWithShape="1">
          <a:blip r:embed="rId6">
            <a:alphaModFix/>
          </a:blip>
          <a:srcRect b="0" l="0" r="0" t="0"/>
          <a:stretch/>
        </p:blipFill>
        <p:spPr>
          <a:xfrm>
            <a:off x="698086" y="4832945"/>
            <a:ext cx="7747600" cy="1409898"/>
          </a:xfrm>
          <a:prstGeom prst="rect">
            <a:avLst/>
          </a:prstGeom>
          <a:noFill/>
          <a:ln>
            <a:noFill/>
          </a:ln>
        </p:spPr>
      </p:pic>
      <p:sp>
        <p:nvSpPr>
          <p:cNvPr id="88" name="Google Shape;88;p7"/>
          <p:cNvSpPr/>
          <p:nvPr/>
        </p:nvSpPr>
        <p:spPr>
          <a:xfrm>
            <a:off x="942852" y="5001518"/>
            <a:ext cx="7334265" cy="2199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D6E5EF"/>
              </a:buClr>
              <a:buSzPts val="1350"/>
              <a:buFont typeface="Lora"/>
              <a:buNone/>
            </a:pPr>
            <a:r>
              <a:rPr b="0" i="0" lang="en-US" sz="1350" u="none" cap="none" strike="noStrike">
                <a:solidFill>
                  <a:srgbClr val="D6E5EF"/>
                </a:solidFill>
                <a:latin typeface="Lora"/>
                <a:ea typeface="Lora"/>
                <a:cs typeface="Lora"/>
                <a:sym typeface="Lora"/>
              </a:rPr>
              <a:t>EXPLAINABLE AI (SHAP)</a:t>
            </a:r>
            <a:endParaRPr b="0" i="0" sz="1350" u="none" cap="none" strike="noStrike">
              <a:solidFill>
                <a:schemeClr val="dk1"/>
              </a:solidFill>
              <a:latin typeface="Calibri"/>
              <a:ea typeface="Calibri"/>
              <a:cs typeface="Calibri"/>
              <a:sym typeface="Calibri"/>
            </a:endParaRPr>
          </a:p>
        </p:txBody>
      </p:sp>
      <p:sp>
        <p:nvSpPr>
          <p:cNvPr id="89" name="Google Shape;89;p7"/>
          <p:cNvSpPr/>
          <p:nvPr/>
        </p:nvSpPr>
        <p:spPr>
          <a:xfrm>
            <a:off x="942852" y="5288756"/>
            <a:ext cx="7334265" cy="785515"/>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6E5EF"/>
              </a:buClr>
              <a:buSzPts val="1450"/>
              <a:buFont typeface="Source Sans 3"/>
              <a:buNone/>
            </a:pPr>
            <a:r>
              <a:rPr b="0" i="0" lang="en-US" sz="1450" u="none" cap="none" strike="noStrike">
                <a:solidFill>
                  <a:srgbClr val="D6E5EF"/>
                </a:solidFill>
                <a:latin typeface="Source Sans 3"/>
                <a:ea typeface="Source Sans 3"/>
                <a:cs typeface="Source Sans 3"/>
                <a:sym typeface="Source Sans 3"/>
              </a:rPr>
              <a:t>SHAP values provide feature-level explanations for every prediction, showing which sensor variables increased or decreased the failure probability and helping engineers make transparent maintenance decisions.</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8"/>
          <p:cNvSpPr/>
          <p:nvPr/>
        </p:nvSpPr>
        <p:spPr>
          <a:xfrm>
            <a:off x="698086" y="849709"/>
            <a:ext cx="10795524" cy="5866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98AC7"/>
              </a:buClr>
              <a:buSzPts val="3650"/>
              <a:buFont typeface="Lora"/>
              <a:buNone/>
            </a:pPr>
            <a:r>
              <a:rPr b="0" i="0" lang="en-US" sz="3650" u="none" cap="none" strike="noStrike">
                <a:solidFill>
                  <a:srgbClr val="F98AC7"/>
                </a:solidFill>
                <a:latin typeface="Lora"/>
                <a:ea typeface="Lora"/>
                <a:cs typeface="Lora"/>
                <a:sym typeface="Lora"/>
              </a:rPr>
              <a:t>Model Performance: LightGBM Excellence</a:t>
            </a:r>
            <a:endParaRPr b="0" i="0" sz="3650" u="none" cap="none" strike="noStrike">
              <a:solidFill>
                <a:schemeClr val="dk1"/>
              </a:solidFill>
              <a:latin typeface="Calibri"/>
              <a:ea typeface="Calibri"/>
              <a:cs typeface="Calibri"/>
              <a:sym typeface="Calibri"/>
            </a:endParaRPr>
          </a:p>
        </p:txBody>
      </p:sp>
      <p:pic>
        <p:nvPicPr>
          <p:cNvPr descr="preencoded.png" id="96" name="Google Shape;96;p8"/>
          <p:cNvPicPr preferRelativeResize="0"/>
          <p:nvPr/>
        </p:nvPicPr>
        <p:blipFill rotWithShape="1">
          <a:blip r:embed="rId3">
            <a:alphaModFix/>
          </a:blip>
          <a:srcRect b="0" l="0" r="0" t="0"/>
          <a:stretch/>
        </p:blipFill>
        <p:spPr>
          <a:xfrm>
            <a:off x="698086" y="2016720"/>
            <a:ext cx="5154484" cy="3710285"/>
          </a:xfrm>
          <a:prstGeom prst="rect">
            <a:avLst/>
          </a:prstGeom>
          <a:noFill/>
          <a:ln>
            <a:noFill/>
          </a:ln>
        </p:spPr>
      </p:pic>
      <p:sp>
        <p:nvSpPr>
          <p:cNvPr id="97" name="Google Shape;97;p8"/>
          <p:cNvSpPr/>
          <p:nvPr/>
        </p:nvSpPr>
        <p:spPr>
          <a:xfrm>
            <a:off x="6345476" y="1934964"/>
            <a:ext cx="5154484" cy="29329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98AC7"/>
              </a:buClr>
              <a:buSzPts val="1800"/>
              <a:buFont typeface="Lora"/>
              <a:buNone/>
            </a:pPr>
            <a:r>
              <a:rPr b="0" i="0" lang="en-US" sz="1800" u="none" cap="none" strike="noStrike">
                <a:solidFill>
                  <a:srgbClr val="F98AC7"/>
                </a:solidFill>
                <a:latin typeface="Lora"/>
                <a:ea typeface="Lora"/>
                <a:cs typeface="Lora"/>
                <a:sym typeface="Lora"/>
              </a:rPr>
              <a:t>MODEL PERFORMANCE ANALYSIS</a:t>
            </a:r>
            <a:endParaRPr b="0" i="0" sz="1800" u="none" cap="none" strike="noStrike">
              <a:solidFill>
                <a:schemeClr val="dk1"/>
              </a:solidFill>
              <a:latin typeface="Calibri"/>
              <a:ea typeface="Calibri"/>
              <a:cs typeface="Calibri"/>
              <a:sym typeface="Calibri"/>
            </a:endParaRPr>
          </a:p>
        </p:txBody>
      </p:sp>
      <p:sp>
        <p:nvSpPr>
          <p:cNvPr id="98" name="Google Shape;98;p8"/>
          <p:cNvSpPr/>
          <p:nvPr/>
        </p:nvSpPr>
        <p:spPr>
          <a:xfrm>
            <a:off x="6345476" y="2427684"/>
            <a:ext cx="5154484" cy="159593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D6E5EF"/>
              </a:buClr>
              <a:buSzPts val="1550"/>
              <a:buFont typeface="Source Sans 3"/>
              <a:buNone/>
            </a:pPr>
            <a:r>
              <a:rPr b="0" i="0" lang="en-US" sz="1550" u="none" cap="none" strike="noStrike">
                <a:solidFill>
                  <a:srgbClr val="D6E5EF"/>
                </a:solidFill>
                <a:latin typeface="Source Sans 3"/>
                <a:ea typeface="Source Sans 3"/>
                <a:cs typeface="Source Sans 3"/>
                <a:sym typeface="Source Sans 3"/>
              </a:rPr>
              <a:t>We compared 13 models using Stratified K-Fold Cross Validation on the AI4I 2020 Predictive Maintenance Dataset. LightGBM delivered the strongest overall results, with the highest accuracy at 98.90% and consistently strong precision and F1 performance.</a:t>
            </a:r>
            <a:endParaRPr b="0" i="0" sz="1550" u="none" cap="none" strike="noStrike">
              <a:solidFill>
                <a:schemeClr val="dk1"/>
              </a:solidFill>
              <a:latin typeface="Calibri"/>
              <a:ea typeface="Calibri"/>
              <a:cs typeface="Calibri"/>
              <a:sym typeface="Calibri"/>
            </a:endParaRPr>
          </a:p>
        </p:txBody>
      </p:sp>
      <p:sp>
        <p:nvSpPr>
          <p:cNvPr id="99" name="Google Shape;99;p8"/>
          <p:cNvSpPr/>
          <p:nvPr/>
        </p:nvSpPr>
        <p:spPr>
          <a:xfrm>
            <a:off x="6345476" y="4203105"/>
            <a:ext cx="5154484" cy="1735435"/>
          </a:xfrm>
          <a:prstGeom prst="rect">
            <a:avLst/>
          </a:prstGeom>
          <a:noFill/>
          <a:ln>
            <a:noFill/>
          </a:ln>
        </p:spPr>
        <p:txBody>
          <a:bodyPr anchorCtr="0" anchor="t" bIns="0" lIns="0" spcFirstLastPara="1" rIns="0" wrap="square" tIns="79775">
            <a:noAutofit/>
          </a:bodyPr>
          <a:lstStyle/>
          <a:p>
            <a:pPr indent="-314960" lvl="0" marL="314960" marR="0" rtl="0" algn="l">
              <a:lnSpc>
                <a:spcPct val="133000"/>
              </a:lnSpc>
              <a:spcBef>
                <a:spcPts val="0"/>
              </a:spcBef>
              <a:spcAft>
                <a:spcPts val="0"/>
              </a:spcAft>
              <a:buClr>
                <a:srgbClr val="D6E5EF"/>
              </a:buClr>
              <a:buSzPts val="1550"/>
              <a:buFont typeface="Source Sans 3"/>
              <a:buChar char="•"/>
            </a:pPr>
            <a:r>
              <a:rPr b="0" i="0" lang="en-US" sz="1550" u="none" cap="none" strike="noStrike">
                <a:solidFill>
                  <a:srgbClr val="D6E5EF"/>
                </a:solidFill>
                <a:latin typeface="Source Sans 3"/>
                <a:ea typeface="Source Sans 3"/>
                <a:cs typeface="Source Sans 3"/>
                <a:sym typeface="Source Sans 3"/>
              </a:rPr>
              <a:t>13 machine learning algorithms were evaluated.</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D6E5EF"/>
              </a:buClr>
              <a:buSzPts val="1550"/>
              <a:buFont typeface="Source Sans 3"/>
              <a:buChar char="•"/>
            </a:pPr>
            <a:r>
              <a:rPr b="0" i="0" lang="en-US" sz="1550" u="none" cap="none" strike="noStrike">
                <a:solidFill>
                  <a:srgbClr val="D6E5EF"/>
                </a:solidFill>
                <a:latin typeface="Source Sans 3"/>
                <a:ea typeface="Source Sans 3"/>
                <a:cs typeface="Source Sans 3"/>
                <a:sym typeface="Source Sans 3"/>
              </a:rPr>
              <a:t>LightGBM delivered the highest overall prediction accuracy (98.90%).</a:t>
            </a:r>
            <a:endParaRPr b="0" i="0" sz="1550" u="none" cap="none" strike="noStrike">
              <a:solidFill>
                <a:schemeClr val="dk1"/>
              </a:solidFill>
              <a:latin typeface="Calibri"/>
              <a:ea typeface="Calibri"/>
              <a:cs typeface="Calibri"/>
              <a:sym typeface="Calibri"/>
            </a:endParaRPr>
          </a:p>
          <a:p>
            <a:pPr indent="-314960" lvl="0" marL="314960" marR="0" rtl="0" algn="l">
              <a:lnSpc>
                <a:spcPct val="133000"/>
              </a:lnSpc>
              <a:spcBef>
                <a:spcPts val="0"/>
              </a:spcBef>
              <a:spcAft>
                <a:spcPts val="0"/>
              </a:spcAft>
              <a:buClr>
                <a:srgbClr val="D6E5EF"/>
              </a:buClr>
              <a:buSzPts val="1550"/>
              <a:buFont typeface="Source Sans 3"/>
              <a:buChar char="•"/>
            </a:pPr>
            <a:r>
              <a:rPr b="0" i="0" lang="en-US" sz="1550" u="none" cap="none" strike="noStrike">
                <a:solidFill>
                  <a:srgbClr val="D6E5EF"/>
                </a:solidFill>
                <a:latin typeface="Source Sans 3"/>
                <a:ea typeface="Source Sans 3"/>
                <a:cs typeface="Source Sans 3"/>
                <a:sym typeface="Source Sans 3"/>
              </a:rPr>
              <a:t>The selected model is used for real-time failure prediction and SHAP-based explainability.</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descr="preencoded.png" id="105" name="Google Shape;105;p9"/>
          <p:cNvPicPr preferRelativeResize="0"/>
          <p:nvPr/>
        </p:nvPicPr>
        <p:blipFill rotWithShape="1">
          <a:blip r:embed="rId3">
            <a:alphaModFix/>
          </a:blip>
          <a:srcRect b="0" l="0" r="0" t="0"/>
          <a:stretch/>
        </p:blipFill>
        <p:spPr>
          <a:xfrm>
            <a:off x="7619809" y="0"/>
            <a:ext cx="4571886" cy="6858000"/>
          </a:xfrm>
          <a:prstGeom prst="rect">
            <a:avLst/>
          </a:prstGeom>
          <a:noFill/>
          <a:ln>
            <a:noFill/>
          </a:ln>
        </p:spPr>
      </p:pic>
      <p:sp>
        <p:nvSpPr>
          <p:cNvPr id="106" name="Google Shape;106;p9"/>
          <p:cNvSpPr/>
          <p:nvPr/>
        </p:nvSpPr>
        <p:spPr>
          <a:xfrm>
            <a:off x="698086" y="811113"/>
            <a:ext cx="6223638" cy="44003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98AC7"/>
              </a:buClr>
              <a:buSzPts val="2750"/>
              <a:buFont typeface="Lora"/>
              <a:buNone/>
            </a:pPr>
            <a:r>
              <a:rPr b="0" i="0" lang="en-US" sz="2750" u="none" cap="none" strike="noStrike">
                <a:solidFill>
                  <a:srgbClr val="F98AC7"/>
                </a:solidFill>
                <a:latin typeface="Lora"/>
                <a:ea typeface="Lora"/>
                <a:cs typeface="Lora"/>
                <a:sym typeface="Lora"/>
              </a:rPr>
              <a:t>IMPACT &amp; FUTURE VISION</a:t>
            </a:r>
            <a:endParaRPr b="0" i="0" sz="2750" u="none" cap="none" strike="noStrike">
              <a:solidFill>
                <a:schemeClr val="dk1"/>
              </a:solidFill>
              <a:latin typeface="Calibri"/>
              <a:ea typeface="Calibri"/>
              <a:cs typeface="Calibri"/>
              <a:sym typeface="Calibri"/>
            </a:endParaRPr>
          </a:p>
        </p:txBody>
      </p:sp>
      <p:sp>
        <p:nvSpPr>
          <p:cNvPr id="107" name="Google Shape;107;p9"/>
          <p:cNvSpPr/>
          <p:nvPr/>
        </p:nvSpPr>
        <p:spPr>
          <a:xfrm>
            <a:off x="698086" y="1531541"/>
            <a:ext cx="2929360" cy="2199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98AC7"/>
              </a:buClr>
              <a:buSzPts val="1350"/>
              <a:buFont typeface="Lora"/>
              <a:buNone/>
            </a:pPr>
            <a:r>
              <a:rPr b="0" i="0" lang="en-US" sz="1350" u="none" cap="none" strike="noStrike">
                <a:solidFill>
                  <a:srgbClr val="F98AC7"/>
                </a:solidFill>
                <a:latin typeface="Lora"/>
                <a:ea typeface="Lora"/>
                <a:cs typeface="Lora"/>
                <a:sym typeface="Lora"/>
              </a:rPr>
              <a:t>KEY BENEFITS</a:t>
            </a:r>
            <a:endParaRPr b="0" i="0" sz="1350" u="none" cap="none" strike="noStrike">
              <a:solidFill>
                <a:schemeClr val="dk1"/>
              </a:solidFill>
              <a:latin typeface="Calibri"/>
              <a:ea typeface="Calibri"/>
              <a:cs typeface="Calibri"/>
              <a:sym typeface="Calibri"/>
            </a:endParaRPr>
          </a:p>
        </p:txBody>
      </p:sp>
      <p:pic>
        <p:nvPicPr>
          <p:cNvPr descr="preencoded.png" id="108" name="Google Shape;108;p9"/>
          <p:cNvPicPr preferRelativeResize="0"/>
          <p:nvPr/>
        </p:nvPicPr>
        <p:blipFill rotWithShape="1">
          <a:blip r:embed="rId4">
            <a:alphaModFix/>
          </a:blip>
          <a:srcRect b="0" l="0" r="0" t="0"/>
          <a:stretch/>
        </p:blipFill>
        <p:spPr>
          <a:xfrm>
            <a:off x="698086" y="1877715"/>
            <a:ext cx="2929360" cy="756047"/>
          </a:xfrm>
          <a:prstGeom prst="rect">
            <a:avLst/>
          </a:prstGeom>
          <a:noFill/>
          <a:ln>
            <a:noFill/>
          </a:ln>
        </p:spPr>
      </p:pic>
      <p:sp>
        <p:nvSpPr>
          <p:cNvPr id="109" name="Google Shape;109;p9"/>
          <p:cNvSpPr/>
          <p:nvPr/>
        </p:nvSpPr>
        <p:spPr>
          <a:xfrm>
            <a:off x="942852" y="2046287"/>
            <a:ext cx="2516025" cy="418902"/>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6E5EF"/>
              </a:buClr>
              <a:buSzPts val="1150"/>
              <a:buFont typeface="Source Sans 3"/>
              <a:buNone/>
            </a:pPr>
            <a:r>
              <a:rPr b="0" i="0" lang="en-US" sz="1150" u="none" cap="none" strike="noStrike">
                <a:solidFill>
                  <a:srgbClr val="D6E5EF"/>
                </a:solidFill>
                <a:latin typeface="Source Sans 3"/>
                <a:ea typeface="Source Sans 3"/>
                <a:cs typeface="Source Sans 3"/>
                <a:sym typeface="Source Sans 3"/>
              </a:rPr>
              <a:t>Reduced machine downtime through early failure prediction.</a:t>
            </a:r>
            <a:endParaRPr b="0" i="0" sz="1150" u="none" cap="none" strike="noStrike">
              <a:solidFill>
                <a:schemeClr val="dk1"/>
              </a:solidFill>
              <a:latin typeface="Calibri"/>
              <a:ea typeface="Calibri"/>
              <a:cs typeface="Calibri"/>
              <a:sym typeface="Calibri"/>
            </a:endParaRPr>
          </a:p>
        </p:txBody>
      </p:sp>
      <p:pic>
        <p:nvPicPr>
          <p:cNvPr descr="preencoded.png" id="110" name="Google Shape;110;p9"/>
          <p:cNvPicPr preferRelativeResize="0"/>
          <p:nvPr/>
        </p:nvPicPr>
        <p:blipFill rotWithShape="1">
          <a:blip r:embed="rId5">
            <a:alphaModFix/>
          </a:blip>
          <a:srcRect b="0" l="0" r="0" t="0"/>
          <a:stretch/>
        </p:blipFill>
        <p:spPr>
          <a:xfrm>
            <a:off x="698086" y="2745879"/>
            <a:ext cx="2929360" cy="965498"/>
          </a:xfrm>
          <a:prstGeom prst="rect">
            <a:avLst/>
          </a:prstGeom>
          <a:noFill/>
          <a:ln>
            <a:noFill/>
          </a:ln>
        </p:spPr>
      </p:pic>
      <p:sp>
        <p:nvSpPr>
          <p:cNvPr id="111" name="Google Shape;111;p9"/>
          <p:cNvSpPr/>
          <p:nvPr/>
        </p:nvSpPr>
        <p:spPr>
          <a:xfrm>
            <a:off x="942852" y="2914452"/>
            <a:ext cx="2516025" cy="628352"/>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6E5EF"/>
              </a:buClr>
              <a:buSzPts val="1150"/>
              <a:buFont typeface="Source Sans 3"/>
              <a:buNone/>
            </a:pPr>
            <a:r>
              <a:rPr b="0" i="0" lang="en-US" sz="1150" u="none" cap="none" strike="noStrike">
                <a:solidFill>
                  <a:srgbClr val="D6E5EF"/>
                </a:solidFill>
                <a:latin typeface="Source Sans 3"/>
                <a:ea typeface="Source Sans 3"/>
                <a:cs typeface="Source Sans 3"/>
                <a:sym typeface="Source Sans 3"/>
              </a:rPr>
              <a:t>Failure mode identification (TWF, HDF, PWF, OSF, RNF) enables targeted maintenance actions.</a:t>
            </a:r>
            <a:endParaRPr b="0" i="0" sz="1150" u="none" cap="none" strike="noStrike">
              <a:solidFill>
                <a:schemeClr val="dk1"/>
              </a:solidFill>
              <a:latin typeface="Calibri"/>
              <a:ea typeface="Calibri"/>
              <a:cs typeface="Calibri"/>
              <a:sym typeface="Calibri"/>
            </a:endParaRPr>
          </a:p>
        </p:txBody>
      </p:sp>
      <p:pic>
        <p:nvPicPr>
          <p:cNvPr descr="preencoded.png" id="112" name="Google Shape;112;p9"/>
          <p:cNvPicPr preferRelativeResize="0"/>
          <p:nvPr/>
        </p:nvPicPr>
        <p:blipFill rotWithShape="1">
          <a:blip r:embed="rId5">
            <a:alphaModFix/>
          </a:blip>
          <a:srcRect b="0" l="0" r="0" t="0"/>
          <a:stretch/>
        </p:blipFill>
        <p:spPr>
          <a:xfrm>
            <a:off x="698086" y="3823494"/>
            <a:ext cx="2929360" cy="965498"/>
          </a:xfrm>
          <a:prstGeom prst="rect">
            <a:avLst/>
          </a:prstGeom>
          <a:noFill/>
          <a:ln>
            <a:noFill/>
          </a:ln>
        </p:spPr>
      </p:pic>
      <p:sp>
        <p:nvSpPr>
          <p:cNvPr id="113" name="Google Shape;113;p9"/>
          <p:cNvSpPr/>
          <p:nvPr/>
        </p:nvSpPr>
        <p:spPr>
          <a:xfrm>
            <a:off x="942852" y="3992066"/>
            <a:ext cx="2516025" cy="628352"/>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6E5EF"/>
              </a:buClr>
              <a:buSzPts val="1150"/>
              <a:buFont typeface="Source Sans 3"/>
              <a:buNone/>
            </a:pPr>
            <a:r>
              <a:rPr b="0" i="0" lang="en-US" sz="1150" u="none" cap="none" strike="noStrike">
                <a:solidFill>
                  <a:srgbClr val="D6E5EF"/>
                </a:solidFill>
                <a:latin typeface="Source Sans 3"/>
                <a:ea typeface="Source Sans 3"/>
                <a:cs typeface="Source Sans 3"/>
                <a:sym typeface="Source Sans 3"/>
              </a:rPr>
              <a:t>SHAP-based explainable AI and real-time monitoring improve maintenance decisions and operational reliability.</a:t>
            </a:r>
            <a:endParaRPr b="0" i="0" sz="1150" u="none" cap="none" strike="noStrike">
              <a:solidFill>
                <a:schemeClr val="dk1"/>
              </a:solidFill>
              <a:latin typeface="Calibri"/>
              <a:ea typeface="Calibri"/>
              <a:cs typeface="Calibri"/>
              <a:sym typeface="Calibri"/>
            </a:endParaRPr>
          </a:p>
        </p:txBody>
      </p:sp>
      <p:sp>
        <p:nvSpPr>
          <p:cNvPr id="114" name="Google Shape;114;p9"/>
          <p:cNvSpPr/>
          <p:nvPr/>
        </p:nvSpPr>
        <p:spPr>
          <a:xfrm>
            <a:off x="3998713" y="1531541"/>
            <a:ext cx="2929360" cy="2199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98AC7"/>
              </a:buClr>
              <a:buSzPts val="1350"/>
              <a:buFont typeface="Lora"/>
              <a:buNone/>
            </a:pPr>
            <a:r>
              <a:rPr b="0" i="0" lang="en-US" sz="1350" u="none" cap="none" strike="noStrike">
                <a:solidFill>
                  <a:srgbClr val="F98AC7"/>
                </a:solidFill>
                <a:latin typeface="Lora"/>
                <a:ea typeface="Lora"/>
                <a:cs typeface="Lora"/>
                <a:sym typeface="Lora"/>
              </a:rPr>
              <a:t>FUTURE ROADMAP</a:t>
            </a:r>
            <a:endParaRPr b="0" i="0" sz="1350" u="none" cap="none" strike="noStrike">
              <a:solidFill>
                <a:schemeClr val="dk1"/>
              </a:solidFill>
              <a:latin typeface="Calibri"/>
              <a:ea typeface="Calibri"/>
              <a:cs typeface="Calibri"/>
              <a:sym typeface="Calibri"/>
            </a:endParaRPr>
          </a:p>
        </p:txBody>
      </p:sp>
      <p:pic>
        <p:nvPicPr>
          <p:cNvPr descr="preencoded.png" id="115" name="Google Shape;115;p9"/>
          <p:cNvPicPr preferRelativeResize="0"/>
          <p:nvPr/>
        </p:nvPicPr>
        <p:blipFill rotWithShape="1">
          <a:blip r:embed="rId4">
            <a:alphaModFix/>
          </a:blip>
          <a:srcRect b="0" l="0" r="0" t="0"/>
          <a:stretch/>
        </p:blipFill>
        <p:spPr>
          <a:xfrm>
            <a:off x="3998713" y="1877715"/>
            <a:ext cx="2929360" cy="756047"/>
          </a:xfrm>
          <a:prstGeom prst="rect">
            <a:avLst/>
          </a:prstGeom>
          <a:noFill/>
          <a:ln>
            <a:noFill/>
          </a:ln>
        </p:spPr>
      </p:pic>
      <p:sp>
        <p:nvSpPr>
          <p:cNvPr id="116" name="Google Shape;116;p9"/>
          <p:cNvSpPr/>
          <p:nvPr/>
        </p:nvSpPr>
        <p:spPr>
          <a:xfrm>
            <a:off x="4243480" y="2046287"/>
            <a:ext cx="2516025" cy="418902"/>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6E5EF"/>
              </a:buClr>
              <a:buSzPts val="1150"/>
              <a:buFont typeface="Source Sans 3"/>
              <a:buNone/>
            </a:pPr>
            <a:r>
              <a:rPr b="0" i="0" lang="en-US" sz="1150" u="none" cap="none" strike="noStrike">
                <a:solidFill>
                  <a:srgbClr val="D6E5EF"/>
                </a:solidFill>
                <a:latin typeface="Source Sans 3"/>
                <a:ea typeface="Source Sans 3"/>
                <a:cs typeface="Source Sans 3"/>
                <a:sym typeface="Source Sans 3"/>
              </a:rPr>
              <a:t>Integrate IoT sensor feeds for real-time industrial data collection.</a:t>
            </a:r>
            <a:endParaRPr b="0" i="0" sz="1150" u="none" cap="none" strike="noStrike">
              <a:solidFill>
                <a:schemeClr val="dk1"/>
              </a:solidFill>
              <a:latin typeface="Calibri"/>
              <a:ea typeface="Calibri"/>
              <a:cs typeface="Calibri"/>
              <a:sym typeface="Calibri"/>
            </a:endParaRPr>
          </a:p>
        </p:txBody>
      </p:sp>
      <p:pic>
        <p:nvPicPr>
          <p:cNvPr descr="preencoded.png" id="117" name="Google Shape;117;p9"/>
          <p:cNvPicPr preferRelativeResize="0"/>
          <p:nvPr/>
        </p:nvPicPr>
        <p:blipFill rotWithShape="1">
          <a:blip r:embed="rId5">
            <a:alphaModFix/>
          </a:blip>
          <a:srcRect b="0" l="0" r="0" t="0"/>
          <a:stretch/>
        </p:blipFill>
        <p:spPr>
          <a:xfrm>
            <a:off x="3998713" y="2745879"/>
            <a:ext cx="2929360" cy="965498"/>
          </a:xfrm>
          <a:prstGeom prst="rect">
            <a:avLst/>
          </a:prstGeom>
          <a:noFill/>
          <a:ln>
            <a:noFill/>
          </a:ln>
        </p:spPr>
      </p:pic>
      <p:sp>
        <p:nvSpPr>
          <p:cNvPr id="118" name="Google Shape;118;p9"/>
          <p:cNvSpPr/>
          <p:nvPr/>
        </p:nvSpPr>
        <p:spPr>
          <a:xfrm>
            <a:off x="4243480" y="2914452"/>
            <a:ext cx="2516025" cy="628352"/>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6E5EF"/>
              </a:buClr>
              <a:buSzPts val="1150"/>
              <a:buFont typeface="Source Sans 3"/>
              <a:buNone/>
            </a:pPr>
            <a:r>
              <a:rPr b="0" i="0" lang="en-US" sz="1150" u="none" cap="none" strike="noStrike">
                <a:solidFill>
                  <a:srgbClr val="D6E5EF"/>
                </a:solidFill>
                <a:latin typeface="Source Sans 3"/>
                <a:ea typeface="Source Sans 3"/>
                <a:cs typeface="Source Sans 3"/>
                <a:sym typeface="Source Sans 3"/>
              </a:rPr>
              <a:t>Expand deployment using Docker and cloud infrastructure for scalable monitoring.</a:t>
            </a:r>
            <a:endParaRPr b="0" i="0" sz="1150" u="none" cap="none" strike="noStrike">
              <a:solidFill>
                <a:schemeClr val="dk1"/>
              </a:solidFill>
              <a:latin typeface="Calibri"/>
              <a:ea typeface="Calibri"/>
              <a:cs typeface="Calibri"/>
              <a:sym typeface="Calibri"/>
            </a:endParaRPr>
          </a:p>
        </p:txBody>
      </p:sp>
      <p:pic>
        <p:nvPicPr>
          <p:cNvPr descr="preencoded.png" id="119" name="Google Shape;119;p9"/>
          <p:cNvPicPr preferRelativeResize="0"/>
          <p:nvPr/>
        </p:nvPicPr>
        <p:blipFill rotWithShape="1">
          <a:blip r:embed="rId5">
            <a:alphaModFix/>
          </a:blip>
          <a:srcRect b="0" l="0" r="0" t="0"/>
          <a:stretch/>
        </p:blipFill>
        <p:spPr>
          <a:xfrm>
            <a:off x="3998713" y="3823494"/>
            <a:ext cx="2929360" cy="965498"/>
          </a:xfrm>
          <a:prstGeom prst="rect">
            <a:avLst/>
          </a:prstGeom>
          <a:noFill/>
          <a:ln>
            <a:noFill/>
          </a:ln>
        </p:spPr>
      </p:pic>
      <p:sp>
        <p:nvSpPr>
          <p:cNvPr id="120" name="Google Shape;120;p9"/>
          <p:cNvSpPr/>
          <p:nvPr/>
        </p:nvSpPr>
        <p:spPr>
          <a:xfrm>
            <a:off x="4243480" y="3992066"/>
            <a:ext cx="2516025" cy="628352"/>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6E5EF"/>
              </a:buClr>
              <a:buSzPts val="1150"/>
              <a:buFont typeface="Source Sans 3"/>
              <a:buNone/>
            </a:pPr>
            <a:r>
              <a:rPr b="0" i="0" lang="en-US" sz="1150" u="none" cap="none" strike="noStrike">
                <a:solidFill>
                  <a:srgbClr val="D6E5EF"/>
                </a:solidFill>
                <a:latin typeface="Source Sans 3"/>
                <a:ea typeface="Source Sans 3"/>
                <a:cs typeface="Source Sans 3"/>
                <a:sym typeface="Source Sans 3"/>
              </a:rPr>
              <a:t>Implement Remaining Useful Life (RUL) prediction for predictive maintenance scheduling.</a:t>
            </a:r>
            <a:endParaRPr b="0" i="0" sz="1150" u="none" cap="none" strike="noStrike">
              <a:solidFill>
                <a:schemeClr val="dk1"/>
              </a:solidFill>
              <a:latin typeface="Calibri"/>
              <a:ea typeface="Calibri"/>
              <a:cs typeface="Calibri"/>
              <a:sym typeface="Calibri"/>
            </a:endParaRPr>
          </a:p>
        </p:txBody>
      </p:sp>
      <p:sp>
        <p:nvSpPr>
          <p:cNvPr id="121" name="Google Shape;121;p9"/>
          <p:cNvSpPr/>
          <p:nvPr/>
        </p:nvSpPr>
        <p:spPr>
          <a:xfrm>
            <a:off x="698086" y="5078710"/>
            <a:ext cx="6223638" cy="19050"/>
          </a:xfrm>
          <a:prstGeom prst="roundRect">
            <a:avLst>
              <a:gd fmla="val 49999" name="adj"/>
            </a:avLst>
          </a:prstGeom>
          <a:solidFill>
            <a:srgbClr val="D6E5EF">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
          <p:cNvSpPr/>
          <p:nvPr/>
        </p:nvSpPr>
        <p:spPr>
          <a:xfrm>
            <a:off x="698086" y="5261273"/>
            <a:ext cx="6223638" cy="785515"/>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6E5EF"/>
              </a:buClr>
              <a:buSzPts val="1450"/>
              <a:buFont typeface="Source Sans 3"/>
              <a:buNone/>
            </a:pPr>
            <a:r>
              <a:rPr b="0" i="0" lang="en-US" sz="1450" u="none" cap="none" strike="noStrike">
                <a:solidFill>
                  <a:srgbClr val="D6E5EF"/>
                </a:solidFill>
                <a:latin typeface="Source Sans 3"/>
                <a:ea typeface="Source Sans 3"/>
                <a:cs typeface="Source Sans 3"/>
                <a:sym typeface="Source Sans 3"/>
              </a:rPr>
              <a:t>The system combines machine learning, explainable AI, and a scalable full-stack architecture to improve industrial reliability and support proactive maintenance.</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